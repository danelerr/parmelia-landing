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Shippori Antique" charset="1" panose="00000500000000000000"/>
      <p:regular r:id="rId21"/>
    </p:embeddedFont>
    <p:embeddedFont>
      <p:font typeface="TT Interphases" charset="1" panose="02000503020000020004"/>
      <p:regular r:id="rId22"/>
    </p:embeddedFont>
    <p:embeddedFont>
      <p:font typeface="TT Interphases Bold" charset="1" panose="020008030600000200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Hi, my name is Daniel and this is Parmelia!</a:t>
            </a:r>
          </a:p>
          <a:p>
            <a:r>
              <a:rPr lang="en-US"/>
              <a:t>I’ve identified four problems I want to solve, so let’s start.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context is the situation in my country, Bolivia.</a:t>
            </a:r>
          </a:p>
          <a:p>
            <a:r>
              <a:rPr lang="en-US"/>
              <a:t/>
            </a:r>
          </a:p>
          <a:p>
            <a:r>
              <a:rPr lang="en-US"/>
              <a:t>In Bolivia it takes a while to explain what’s going on,</a:t>
            </a:r>
          </a:p>
          <a:p>
            <a:r>
              <a:rPr lang="en-US"/>
              <a:t>but a quick summary is something like “liquidation of assets through exchange-rate differences.”</a:t>
            </a:r>
          </a:p>
          <a:p>
            <a:r>
              <a:rPr lang="en-US"/>
              <a:t/>
            </a:r>
          </a:p>
          <a:p>
            <a:r>
              <a:rPr lang="en-US"/>
              <a:t>If you receive remittances, you literally lose half of the value just because of FX games.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context is the situation in my country, Bolivia.</a:t>
            </a:r>
          </a:p>
          <a:p>
            <a:r>
              <a:rPr lang="en-US"/>
              <a:t/>
            </a:r>
          </a:p>
          <a:p>
            <a:r>
              <a:rPr lang="en-US"/>
              <a:t>In Bolivia it takes a while to explain what’s going on,</a:t>
            </a:r>
          </a:p>
          <a:p>
            <a:r>
              <a:rPr lang="en-US"/>
              <a:t>but a quick summary is something like “liquidation of assets through exchange-rate differences.”</a:t>
            </a:r>
          </a:p>
          <a:p>
            <a:r>
              <a:rPr lang="en-US"/>
              <a:t/>
            </a:r>
          </a:p>
          <a:p>
            <a:r>
              <a:rPr lang="en-US"/>
              <a:t>If you receive remittances, you literally lose half of the value just because of FX games.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And not only that, saving is hard in practice.</a:t>
            </a:r>
          </a:p>
          <a:p>
            <a:r>
              <a:rPr lang="en-US"/>
              <a:t>You might think:</a:t>
            </a:r>
          </a:p>
          <a:p>
            <a:r>
              <a:rPr lang="en-US"/>
              <a:t>“OK, I’ll open a separate account, or I’ll send my money to Binance, or invest it somewhere.”</a:t>
            </a:r>
          </a:p>
          <a:p>
            <a:r>
              <a:rPr lang="en-US"/>
              <a:t/>
            </a:r>
          </a:p>
          <a:p>
            <a:r>
              <a:rPr lang="en-US"/>
              <a:t>But what happens if I suddenly need that money?</a:t>
            </a:r>
          </a:p>
          <a:p>
            <a:r>
              <a:rPr lang="en-US"/>
              <a:t>In the end, I can’t really save.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Parmelia is born as a solution:</a:t>
            </a:r>
          </a:p>
          <a:p>
            <a:r>
              <a:rPr lang="en-US"/>
              <a:t>a simple, well-executed, cheap, tailored off-ramp.</a:t>
            </a:r>
          </a:p>
          <a:p>
            <a:r>
              <a:rPr lang="en-US"/>
              <a:t/>
            </a:r>
          </a:p>
          <a:p>
            <a:r>
              <a:rPr lang="en-US"/>
              <a:t>You deposit, for example, USDC</a:t>
            </a:r>
          </a:p>
          <a:p>
            <a:r>
              <a:rPr lang="en-US"/>
              <a:t>and you can pay any BCB QR in bolivianos,</a:t>
            </a:r>
          </a:p>
          <a:p>
            <a:r>
              <a:rPr lang="en-US"/>
              <a:t/>
            </a:r>
          </a:p>
          <a:p>
            <a:r>
              <a:rPr lang="en-US"/>
              <a:t>with no fees for the user,</a:t>
            </a:r>
          </a:p>
          <a:p>
            <a:r>
              <a:rPr lang="en-US"/>
              <a:t>with an exchange rate close to the crypto dollar,</a:t>
            </a:r>
          </a:p>
          <a:p>
            <a:r>
              <a:rPr lang="en-US"/>
              <a:t>and with every payment recorded on-chain.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With one special feature,</a:t>
            </a:r>
          </a:p>
          <a:p>
            <a:r>
              <a:rPr lang="en-US"/>
              <a:t>to tackle one of the problems I mentioned before.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As a user, you just deposit your crypto or your bolivianos.</a:t>
            </a:r>
          </a:p>
          <a:p>
            <a:r>
              <a:rPr lang="en-US"/>
              <a:t/>
            </a:r>
          </a:p>
          <a:p>
            <a:r>
              <a:rPr lang="en-US"/>
              <a:t>Inside your account everything is handled on-chain —</a:t>
            </a:r>
          </a:p>
          <a:p>
            <a:r>
              <a:rPr lang="en-US"/>
              <a:t>basically, your money lives on the blockchain.</a:t>
            </a:r>
          </a:p>
          <a:p>
            <a:r>
              <a:rPr lang="en-US"/>
              <a:t/>
            </a:r>
          </a:p>
          <a:p>
            <a:r>
              <a:rPr lang="en-US"/>
              <a:t>When you pay, an oracle calculates the current price,</a:t>
            </a:r>
          </a:p>
          <a:p>
            <a:r>
              <a:rPr lang="en-US"/>
              <a:t>and your crypto is converted to bolivianos at a fair rate.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As a user, you just deposit your crypto or your bolivianos.</a:t>
            </a:r>
          </a:p>
          <a:p>
            <a:r>
              <a:rPr lang="en-US"/>
              <a:t/>
            </a:r>
          </a:p>
          <a:p>
            <a:r>
              <a:rPr lang="en-US"/>
              <a:t>Inside your account everything is handled on-chain —</a:t>
            </a:r>
          </a:p>
          <a:p>
            <a:r>
              <a:rPr lang="en-US"/>
              <a:t>basically, your money lives on the blockchain.</a:t>
            </a:r>
          </a:p>
          <a:p>
            <a:r>
              <a:rPr lang="en-US"/>
              <a:t/>
            </a:r>
          </a:p>
          <a:p>
            <a:r>
              <a:rPr lang="en-US"/>
              <a:t>When you pay, an oracle calculates the current price,</a:t>
            </a:r>
          </a:p>
          <a:p>
            <a:r>
              <a:rPr lang="en-US"/>
              <a:t>and your crypto is converted to bolivianos at a fair rate.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a high-level architecture diagram:</a:t>
            </a:r>
          </a:p>
          <a:p>
            <a:r>
              <a:rPr lang="en-US"/>
              <a:t>what happens inside the app when you want to make a payment.</a:t>
            </a:r>
          </a:p>
          <a:p>
            <a:r>
              <a:rPr lang="en-US"/>
              <a:t/>
            </a:r>
          </a:p>
          <a:p>
            <a:r>
              <a:rPr lang="en-US"/>
              <a:t>Step 1, 2, 3… next.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a high-level architecture diagram:</a:t>
            </a:r>
          </a:p>
          <a:p>
            <a:r>
              <a:rPr lang="en-US"/>
              <a:t>what happens inside the app when you want to make a payment.</a:t>
            </a:r>
          </a:p>
          <a:p>
            <a:r>
              <a:rPr lang="en-US"/>
              <a:t/>
            </a:r>
          </a:p>
          <a:p>
            <a:r>
              <a:rPr lang="en-US"/>
              <a:t>Step 1, 2, 3… next.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a high-level architecture diagram:</a:t>
            </a:r>
          </a:p>
          <a:p>
            <a:r>
              <a:rPr lang="en-US"/>
              <a:t>what happens inside the app when you want to make a payment.</a:t>
            </a:r>
          </a:p>
          <a:p>
            <a:r>
              <a:rPr lang="en-US"/>
              <a:t/>
            </a:r>
          </a:p>
          <a:p>
            <a:r>
              <a:rPr lang="en-US"/>
              <a:t>Step 1, 2, 3… next.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That’s it. Thank you very much. 🙌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1.png" Type="http://schemas.openxmlformats.org/officeDocument/2006/relationships/image"/><Relationship Id="rId6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34793" y="3350178"/>
            <a:ext cx="3097555" cy="3586643"/>
          </a:xfrm>
          <a:custGeom>
            <a:avLst/>
            <a:gdLst/>
            <a:ahLst/>
            <a:cxnLst/>
            <a:rect r="r" b="b" t="t" l="l"/>
            <a:pathLst>
              <a:path h="3586643" w="3097555">
                <a:moveTo>
                  <a:pt x="0" y="0"/>
                </a:moveTo>
                <a:lnTo>
                  <a:pt x="3097556" y="0"/>
                </a:lnTo>
                <a:lnTo>
                  <a:pt x="3097556" y="3586644"/>
                </a:lnTo>
                <a:lnTo>
                  <a:pt x="0" y="3586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3593" y="3635928"/>
            <a:ext cx="8190073" cy="121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54"/>
              </a:lnSpc>
            </a:pPr>
            <a:r>
              <a:rPr lang="en-US" sz="9838" spc="-98">
                <a:solidFill>
                  <a:srgbClr val="FFFFFF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Parmelia: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660115"/>
            <a:ext cx="11381248" cy="59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sz="3966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By: Daniel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3593" y="5076825"/>
            <a:ext cx="7977217" cy="59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8"/>
              </a:lnSpc>
              <a:spcBef>
                <a:spcPct val="0"/>
              </a:spcBef>
            </a:pPr>
            <a:r>
              <a:rPr lang="en-US" sz="3506" spc="-35">
                <a:solidFill>
                  <a:srgbClr val="FFFFFF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A seamless and global payments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104775">
            <a:solidFill>
              <a:srgbClr val="DEA6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084923" y="8422291"/>
            <a:ext cx="1174377" cy="1359805"/>
          </a:xfrm>
          <a:custGeom>
            <a:avLst/>
            <a:gdLst/>
            <a:ahLst/>
            <a:cxnLst/>
            <a:rect r="r" b="b" t="t" l="l"/>
            <a:pathLst>
              <a:path h="1359805" w="1174377">
                <a:moveTo>
                  <a:pt x="0" y="0"/>
                </a:moveTo>
                <a:lnTo>
                  <a:pt x="1174377" y="0"/>
                </a:lnTo>
                <a:lnTo>
                  <a:pt x="1174377" y="1359806"/>
                </a:lnTo>
                <a:lnTo>
                  <a:pt x="0" y="1359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88242" y="4102604"/>
            <a:ext cx="12911516" cy="3400263"/>
            <a:chOff x="0" y="0"/>
            <a:chExt cx="17215354" cy="453368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57175"/>
              <a:ext cx="17215354" cy="29618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47"/>
                </a:lnSpc>
                <a:spcBef>
                  <a:spcPct val="0"/>
                </a:spcBef>
              </a:pPr>
              <a:r>
                <a:rPr lang="en-US" sz="9052" spc="-90">
                  <a:solidFill>
                    <a:srgbClr val="FFFFFF"/>
                  </a:solidFill>
                  <a:latin typeface="Shippori Antique"/>
                  <a:ea typeface="Shippori Antique"/>
                  <a:cs typeface="Shippori Antique"/>
                  <a:sym typeface="Shippori Antique"/>
                </a:rPr>
                <a:t>Crypto payments </a:t>
              </a:r>
              <a:r>
                <a:rPr lang="en-US" sz="9052" spc="-90">
                  <a:solidFill>
                    <a:srgbClr val="A7D4DE"/>
                  </a:solidFill>
                  <a:latin typeface="Shippori Antique"/>
                  <a:ea typeface="Shippori Antique"/>
                  <a:cs typeface="Shippori Antique"/>
                  <a:sym typeface="Shippori Antique"/>
                </a:rPr>
                <a:t>still feel hard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87287"/>
              <a:ext cx="17215354" cy="446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7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104775">
            <a:solidFill>
              <a:srgbClr val="DEA6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084923" y="8422291"/>
            <a:ext cx="1174377" cy="1359805"/>
          </a:xfrm>
          <a:custGeom>
            <a:avLst/>
            <a:gdLst/>
            <a:ahLst/>
            <a:cxnLst/>
            <a:rect r="r" b="b" t="t" l="l"/>
            <a:pathLst>
              <a:path h="1359805" w="1174377">
                <a:moveTo>
                  <a:pt x="0" y="0"/>
                </a:moveTo>
                <a:lnTo>
                  <a:pt x="1174377" y="0"/>
                </a:lnTo>
                <a:lnTo>
                  <a:pt x="1174377" y="1359806"/>
                </a:lnTo>
                <a:lnTo>
                  <a:pt x="0" y="1359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88242" y="3547762"/>
            <a:ext cx="12911516" cy="4416967"/>
            <a:chOff x="0" y="0"/>
            <a:chExt cx="17215354" cy="588928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57175"/>
              <a:ext cx="17215354" cy="4317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47"/>
                </a:lnSpc>
              </a:pPr>
              <a:r>
                <a:rPr lang="en-US" sz="9052" spc="-90">
                  <a:solidFill>
                    <a:srgbClr val="FFFFFF"/>
                  </a:solidFill>
                  <a:latin typeface="Shippori Antique"/>
                  <a:ea typeface="Shippori Antique"/>
                  <a:cs typeface="Shippori Antique"/>
                  <a:sym typeface="Shippori Antique"/>
                </a:rPr>
                <a:t>Infrastructure exists.</a:t>
              </a:r>
            </a:p>
            <a:p>
              <a:pPr algn="l" marL="0" indent="0" lvl="0">
                <a:lnSpc>
                  <a:spcPts val="8147"/>
                </a:lnSpc>
                <a:spcBef>
                  <a:spcPct val="0"/>
                </a:spcBef>
              </a:pPr>
              <a:r>
                <a:rPr lang="en-US" sz="9052" spc="-90">
                  <a:solidFill>
                    <a:srgbClr val="D7D7A0"/>
                  </a:solidFill>
                  <a:latin typeface="Shippori Antique"/>
                  <a:ea typeface="Shippori Antique"/>
                  <a:cs typeface="Shippori Antique"/>
                  <a:sym typeface="Shippori Antique"/>
                </a:rPr>
                <a:t>The UX</a:t>
              </a:r>
              <a:r>
                <a:rPr lang="en-US" sz="9052" spc="-90">
                  <a:solidFill>
                    <a:srgbClr val="FFFFFF"/>
                  </a:solidFill>
                  <a:latin typeface="Shippori Antique"/>
                  <a:ea typeface="Shippori Antique"/>
                  <a:cs typeface="Shippori Antique"/>
                  <a:sym typeface="Shippori Antique"/>
                </a:rPr>
                <a:t> is still the bottleneck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442892"/>
              <a:ext cx="17215354" cy="446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7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104775">
            <a:solidFill>
              <a:srgbClr val="DEA6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084923" y="8422291"/>
            <a:ext cx="1174377" cy="1359805"/>
          </a:xfrm>
          <a:custGeom>
            <a:avLst/>
            <a:gdLst/>
            <a:ahLst/>
            <a:cxnLst/>
            <a:rect r="r" b="b" t="t" l="l"/>
            <a:pathLst>
              <a:path h="1359805" w="1174377">
                <a:moveTo>
                  <a:pt x="0" y="0"/>
                </a:moveTo>
                <a:lnTo>
                  <a:pt x="1174377" y="0"/>
                </a:lnTo>
                <a:lnTo>
                  <a:pt x="1174377" y="1359806"/>
                </a:lnTo>
                <a:lnTo>
                  <a:pt x="0" y="1359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3338852"/>
            <a:ext cx="18846790" cy="4279322"/>
            <a:chOff x="0" y="0"/>
            <a:chExt cx="25129053" cy="570576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9525"/>
              <a:ext cx="25129053" cy="1547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289"/>
                </a:lnSpc>
                <a:spcBef>
                  <a:spcPct val="0"/>
                </a:spcBef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157929"/>
              <a:ext cx="25129053" cy="3547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37"/>
                </a:lnSpc>
              </a:pPr>
            </a:p>
            <a:p>
              <a:pPr algn="l" marL="0" indent="0" lvl="0">
                <a:lnSpc>
                  <a:spcPts val="10837"/>
                </a:lnSpc>
                <a:spcBef>
                  <a:spcPct val="0"/>
                </a:spcBef>
              </a:pPr>
              <a:r>
                <a:rPr lang="en-US" sz="7741">
                  <a:solidFill>
                    <a:srgbClr val="A7D4DE"/>
                  </a:solidFill>
                  <a:latin typeface="Shippori Antique"/>
                  <a:ea typeface="Shippori Antique"/>
                  <a:cs typeface="Shippori Antique"/>
                  <a:sym typeface="Shippori Antique"/>
                </a:rPr>
                <a:t>Protocol handles complexity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243312"/>
            <a:ext cx="16954500" cy="3599233"/>
            <a:chOff x="0" y="0"/>
            <a:chExt cx="22606000" cy="479897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76225"/>
              <a:ext cx="22606000" cy="3279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spc="-100">
                  <a:solidFill>
                    <a:srgbClr val="FFFFFF"/>
                  </a:solidFill>
                  <a:latin typeface="Shippori Antique"/>
                  <a:ea typeface="Shippori Antique"/>
                  <a:cs typeface="Shippori Antique"/>
                  <a:sym typeface="Shippori Antique"/>
                </a:rPr>
                <a:t>Web2 flow, onchain settlement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306853"/>
              <a:ext cx="226060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1686" y="1522661"/>
            <a:ext cx="14911799" cy="5040535"/>
            <a:chOff x="0" y="0"/>
            <a:chExt cx="19882399" cy="672071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5725"/>
              <a:ext cx="5653999" cy="481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4"/>
                </a:lnSpc>
                <a:spcBef>
                  <a:spcPct val="0"/>
                </a:spcBef>
              </a:pPr>
              <a:r>
                <a:rPr lang="en-US" sz="2804" spc="-28">
                  <a:solidFill>
                    <a:srgbClr val="FFFFFF"/>
                  </a:solidFill>
                  <a:latin typeface="Shippori Antique"/>
                  <a:ea typeface="Shippori Antique"/>
                  <a:cs typeface="Shippori Antique"/>
                  <a:sym typeface="Shippori Antique"/>
                </a:rPr>
                <a:t>Solution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667045" y="6274316"/>
              <a:ext cx="17215354" cy="446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7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1780" y="1102353"/>
            <a:ext cx="8256943" cy="122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6"/>
              </a:lnSpc>
              <a:spcBef>
                <a:spcPct val="0"/>
              </a:spcBef>
            </a:pPr>
            <a:r>
              <a:rPr lang="en-US" sz="9918" spc="-99">
                <a:solidFill>
                  <a:srgbClr val="FFFFFF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Parmelia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8507517"/>
            <a:ext cx="10420865" cy="91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17"/>
              </a:lnSpc>
              <a:spcBef>
                <a:spcPct val="0"/>
              </a:spcBef>
            </a:pPr>
            <a:r>
              <a:rPr lang="en-US" sz="265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Users get passkeys, gassless flows, Links and QR.  The protocol settles onchain through ERC-4337 and Paymasters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451396" y="2967457"/>
            <a:ext cx="3223175" cy="3732097"/>
          </a:xfrm>
          <a:custGeom>
            <a:avLst/>
            <a:gdLst/>
            <a:ahLst/>
            <a:cxnLst/>
            <a:rect r="r" b="b" t="t" l="l"/>
            <a:pathLst>
              <a:path h="3732097" w="3223175">
                <a:moveTo>
                  <a:pt x="0" y="0"/>
                </a:moveTo>
                <a:lnTo>
                  <a:pt x="3223175" y="0"/>
                </a:lnTo>
                <a:lnTo>
                  <a:pt x="3223175" y="3732097"/>
                </a:lnTo>
                <a:lnTo>
                  <a:pt x="0" y="3732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17138" y="1624777"/>
            <a:ext cx="1354726" cy="0"/>
          </a:xfrm>
          <a:prstGeom prst="line">
            <a:avLst/>
          </a:prstGeom>
          <a:ln cap="rnd" w="104775">
            <a:solidFill>
              <a:srgbClr val="DEA6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9538" y="1777177"/>
            <a:ext cx="1354726" cy="0"/>
          </a:xfrm>
          <a:prstGeom prst="line">
            <a:avLst/>
          </a:prstGeom>
          <a:ln cap="rnd" w="104775">
            <a:solidFill>
              <a:srgbClr val="A7D4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1938" y="1929577"/>
            <a:ext cx="1354726" cy="0"/>
          </a:xfrm>
          <a:prstGeom prst="line">
            <a:avLst/>
          </a:prstGeom>
          <a:ln cap="rnd" w="104775">
            <a:solidFill>
              <a:srgbClr val="DED9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517045" y="3916433"/>
            <a:ext cx="11049603" cy="153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2"/>
              </a:lnSpc>
              <a:spcBef>
                <a:spcPct val="0"/>
              </a:spcBef>
            </a:pPr>
            <a:r>
              <a:rPr lang="en-US" sz="6446" spc="-64">
                <a:solidFill>
                  <a:srgbClr val="FFFFFF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Non custodial, 100% onchain, built for payments</a:t>
            </a:r>
          </a:p>
        </p:txBody>
      </p:sp>
      <p:sp>
        <p:nvSpPr>
          <p:cNvPr name="AutoShape 9" id="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83426" y="6286237"/>
            <a:ext cx="3494708" cy="0"/>
          </a:xfrm>
          <a:prstGeom prst="line">
            <a:avLst/>
          </a:prstGeom>
          <a:ln cap="rnd" w="104775">
            <a:solidFill>
              <a:srgbClr val="DEA6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6564" y="6438637"/>
            <a:ext cx="3494708" cy="0"/>
          </a:xfrm>
          <a:prstGeom prst="line">
            <a:avLst/>
          </a:prstGeom>
          <a:ln cap="rnd" w="104775">
            <a:solidFill>
              <a:srgbClr val="A7D4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9701" y="6591037"/>
            <a:ext cx="3494708" cy="0"/>
          </a:xfrm>
          <a:prstGeom prst="line">
            <a:avLst/>
          </a:prstGeom>
          <a:ln cap="rnd" w="104775">
            <a:solidFill>
              <a:srgbClr val="DED9A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98849" y="4091423"/>
            <a:ext cx="10690227" cy="233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33"/>
              </a:lnSpc>
              <a:spcBef>
                <a:spcPct val="0"/>
              </a:spcBef>
            </a:pPr>
            <a:r>
              <a:rPr lang="en-US" sz="9814" spc="-98">
                <a:solidFill>
                  <a:srgbClr val="FFFFFF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What users can do today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9836441">
            <a:off x="1324034" y="8064628"/>
            <a:ext cx="1147170" cy="1328302"/>
          </a:xfrm>
          <a:custGeom>
            <a:avLst/>
            <a:gdLst/>
            <a:ahLst/>
            <a:cxnLst/>
            <a:rect r="r" b="b" t="t" l="l"/>
            <a:pathLst>
              <a:path h="1328302" w="1147170">
                <a:moveTo>
                  <a:pt x="0" y="0"/>
                </a:moveTo>
                <a:lnTo>
                  <a:pt x="1147169" y="0"/>
                </a:lnTo>
                <a:lnTo>
                  <a:pt x="1147169" y="1328301"/>
                </a:lnTo>
                <a:lnTo>
                  <a:pt x="0" y="1328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5115" y="364549"/>
            <a:ext cx="1147170" cy="1328302"/>
          </a:xfrm>
          <a:custGeom>
            <a:avLst/>
            <a:gdLst/>
            <a:ahLst/>
            <a:cxnLst/>
            <a:rect r="r" b="b" t="t" l="l"/>
            <a:pathLst>
              <a:path h="1328302" w="1147170">
                <a:moveTo>
                  <a:pt x="0" y="0"/>
                </a:moveTo>
                <a:lnTo>
                  <a:pt x="1147170" y="0"/>
                </a:lnTo>
                <a:lnTo>
                  <a:pt x="1147170" y="1328302"/>
                </a:lnTo>
                <a:lnTo>
                  <a:pt x="0" y="1328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472668">
            <a:off x="13361739" y="7589207"/>
            <a:ext cx="1147170" cy="1328302"/>
          </a:xfrm>
          <a:custGeom>
            <a:avLst/>
            <a:gdLst/>
            <a:ahLst/>
            <a:cxnLst/>
            <a:rect r="r" b="b" t="t" l="l"/>
            <a:pathLst>
              <a:path h="1328302" w="1147170">
                <a:moveTo>
                  <a:pt x="0" y="0"/>
                </a:moveTo>
                <a:lnTo>
                  <a:pt x="1147170" y="0"/>
                </a:lnTo>
                <a:lnTo>
                  <a:pt x="1147170" y="1328301"/>
                </a:lnTo>
                <a:lnTo>
                  <a:pt x="0" y="1328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53581">
            <a:off x="16112130" y="5143500"/>
            <a:ext cx="1147170" cy="1328302"/>
          </a:xfrm>
          <a:custGeom>
            <a:avLst/>
            <a:gdLst/>
            <a:ahLst/>
            <a:cxnLst/>
            <a:rect r="r" b="b" t="t" l="l"/>
            <a:pathLst>
              <a:path h="1328302" w="1147170">
                <a:moveTo>
                  <a:pt x="0" y="0"/>
                </a:moveTo>
                <a:lnTo>
                  <a:pt x="1147170" y="0"/>
                </a:lnTo>
                <a:lnTo>
                  <a:pt x="1147170" y="1328302"/>
                </a:lnTo>
                <a:lnTo>
                  <a:pt x="0" y="1328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5605551" y="7929998"/>
            <a:ext cx="1147170" cy="1328302"/>
          </a:xfrm>
          <a:custGeom>
            <a:avLst/>
            <a:gdLst/>
            <a:ahLst/>
            <a:cxnLst/>
            <a:rect r="r" b="b" t="t" l="l"/>
            <a:pathLst>
              <a:path h="1328302" w="1147170">
                <a:moveTo>
                  <a:pt x="0" y="0"/>
                </a:moveTo>
                <a:lnTo>
                  <a:pt x="1147170" y="0"/>
                </a:lnTo>
                <a:lnTo>
                  <a:pt x="1147170" y="1328302"/>
                </a:lnTo>
                <a:lnTo>
                  <a:pt x="0" y="1328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673533">
            <a:off x="10744780" y="1181100"/>
            <a:ext cx="1147170" cy="1328302"/>
          </a:xfrm>
          <a:custGeom>
            <a:avLst/>
            <a:gdLst/>
            <a:ahLst/>
            <a:cxnLst/>
            <a:rect r="r" b="b" t="t" l="l"/>
            <a:pathLst>
              <a:path h="1328302" w="1147170">
                <a:moveTo>
                  <a:pt x="0" y="0"/>
                </a:moveTo>
                <a:lnTo>
                  <a:pt x="1147170" y="0"/>
                </a:lnTo>
                <a:lnTo>
                  <a:pt x="1147170" y="1328302"/>
                </a:lnTo>
                <a:lnTo>
                  <a:pt x="0" y="1328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02285" y="4662585"/>
            <a:ext cx="1147170" cy="1328302"/>
          </a:xfrm>
          <a:custGeom>
            <a:avLst/>
            <a:gdLst/>
            <a:ahLst/>
            <a:cxnLst/>
            <a:rect r="r" b="b" t="t" l="l"/>
            <a:pathLst>
              <a:path h="1328302" w="1147170">
                <a:moveTo>
                  <a:pt x="0" y="0"/>
                </a:moveTo>
                <a:lnTo>
                  <a:pt x="1147169" y="0"/>
                </a:lnTo>
                <a:lnTo>
                  <a:pt x="1147169" y="1328301"/>
                </a:lnTo>
                <a:lnTo>
                  <a:pt x="0" y="1328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775059">
            <a:off x="5788871" y="706418"/>
            <a:ext cx="1147170" cy="1328302"/>
          </a:xfrm>
          <a:custGeom>
            <a:avLst/>
            <a:gdLst/>
            <a:ahLst/>
            <a:cxnLst/>
            <a:rect r="r" b="b" t="t" l="l"/>
            <a:pathLst>
              <a:path h="1328302" w="1147170">
                <a:moveTo>
                  <a:pt x="0" y="0"/>
                </a:moveTo>
                <a:lnTo>
                  <a:pt x="1147170" y="0"/>
                </a:lnTo>
                <a:lnTo>
                  <a:pt x="1147170" y="1328301"/>
                </a:lnTo>
                <a:lnTo>
                  <a:pt x="0" y="1328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43592">
            <a:off x="14964961" y="1028700"/>
            <a:ext cx="1147170" cy="1328302"/>
          </a:xfrm>
          <a:custGeom>
            <a:avLst/>
            <a:gdLst/>
            <a:ahLst/>
            <a:cxnLst/>
            <a:rect r="r" b="b" t="t" l="l"/>
            <a:pathLst>
              <a:path h="1328302" w="1147170">
                <a:moveTo>
                  <a:pt x="0" y="0"/>
                </a:moveTo>
                <a:lnTo>
                  <a:pt x="1147169" y="0"/>
                </a:lnTo>
                <a:lnTo>
                  <a:pt x="1147169" y="1328302"/>
                </a:lnTo>
                <a:lnTo>
                  <a:pt x="0" y="1328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65105" y="1295739"/>
            <a:ext cx="1067487" cy="141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11"/>
              </a:lnSpc>
              <a:spcBef>
                <a:spcPct val="0"/>
              </a:spcBef>
            </a:pPr>
            <a:r>
              <a:rPr lang="en-US" sz="11345" spc="-113">
                <a:solidFill>
                  <a:srgbClr val="A7D4DE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+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76513" y="1147983"/>
            <a:ext cx="1067487" cy="141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11"/>
              </a:lnSpc>
              <a:spcBef>
                <a:spcPct val="0"/>
              </a:spcBef>
            </a:pPr>
            <a:r>
              <a:rPr lang="en-US" sz="11345" spc="-113">
                <a:solidFill>
                  <a:srgbClr val="DEA6BC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+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21589" y="2401849"/>
            <a:ext cx="1067487" cy="141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11"/>
              </a:lnSpc>
              <a:spcBef>
                <a:spcPct val="0"/>
              </a:spcBef>
            </a:pPr>
            <a:r>
              <a:rPr lang="en-US" sz="11345" spc="-113">
                <a:solidFill>
                  <a:srgbClr val="DED9A6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+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18228" y="7555683"/>
            <a:ext cx="1067487" cy="141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11"/>
              </a:lnSpc>
              <a:spcBef>
                <a:spcPct val="0"/>
              </a:spcBef>
            </a:pPr>
            <a:r>
              <a:rPr lang="en-US" sz="11345" spc="-113">
                <a:solidFill>
                  <a:srgbClr val="DEA6BC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+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7754385"/>
            <a:ext cx="1067487" cy="141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11"/>
              </a:lnSpc>
              <a:spcBef>
                <a:spcPct val="0"/>
              </a:spcBef>
            </a:pPr>
            <a:r>
              <a:rPr lang="en-US" sz="11345" spc="-113">
                <a:solidFill>
                  <a:srgbClr val="A7D4DE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+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98849" y="6691846"/>
            <a:ext cx="1067487" cy="141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11"/>
              </a:lnSpc>
              <a:spcBef>
                <a:spcPct val="0"/>
              </a:spcBef>
            </a:pPr>
            <a:r>
              <a:rPr lang="en-US" sz="11345" spc="-113">
                <a:solidFill>
                  <a:srgbClr val="DED9A6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+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318" y="1679320"/>
            <a:ext cx="16954500" cy="2000279"/>
            <a:chOff x="0" y="0"/>
            <a:chExt cx="22606000" cy="266703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19075"/>
              <a:ext cx="22606000" cy="1304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50"/>
                </a:lnSpc>
                <a:spcBef>
                  <a:spcPct val="0"/>
                </a:spcBef>
              </a:pPr>
              <a:r>
                <a:rPr lang="en-US" sz="7500" spc="-75">
                  <a:solidFill>
                    <a:srgbClr val="FFFFFF"/>
                  </a:solidFill>
                  <a:latin typeface="Shippori Antique"/>
                  <a:ea typeface="Shippori Antique"/>
                  <a:cs typeface="Shippori Antique"/>
                  <a:sym typeface="Shippori Antique"/>
                </a:rPr>
                <a:t>Keep full control of funds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174913"/>
              <a:ext cx="226060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104775">
            <a:solidFill>
              <a:srgbClr val="DEA6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177962" y="1679320"/>
            <a:ext cx="1148057" cy="1329329"/>
          </a:xfrm>
          <a:custGeom>
            <a:avLst/>
            <a:gdLst/>
            <a:ahLst/>
            <a:cxnLst/>
            <a:rect r="r" b="b" t="t" l="l"/>
            <a:pathLst>
              <a:path h="1329329" w="1148057">
                <a:moveTo>
                  <a:pt x="0" y="0"/>
                </a:moveTo>
                <a:lnTo>
                  <a:pt x="1148057" y="0"/>
                </a:lnTo>
                <a:lnTo>
                  <a:pt x="1148057" y="1329329"/>
                </a:lnTo>
                <a:lnTo>
                  <a:pt x="0" y="1329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4795" y="4028076"/>
            <a:ext cx="1606967" cy="1115424"/>
          </a:xfrm>
          <a:custGeom>
            <a:avLst/>
            <a:gdLst/>
            <a:ahLst/>
            <a:cxnLst/>
            <a:rect r="r" b="b" t="t" l="l"/>
            <a:pathLst>
              <a:path h="1115424" w="1606967">
                <a:moveTo>
                  <a:pt x="0" y="0"/>
                </a:moveTo>
                <a:lnTo>
                  <a:pt x="1606967" y="0"/>
                </a:lnTo>
                <a:lnTo>
                  <a:pt x="1606967" y="1115424"/>
                </a:lnTo>
                <a:lnTo>
                  <a:pt x="0" y="11154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50827" y="4120116"/>
            <a:ext cx="1911815" cy="1023384"/>
          </a:xfrm>
          <a:custGeom>
            <a:avLst/>
            <a:gdLst/>
            <a:ahLst/>
            <a:cxnLst/>
            <a:rect r="r" b="b" t="t" l="l"/>
            <a:pathLst>
              <a:path h="1023384" w="1911815">
                <a:moveTo>
                  <a:pt x="0" y="0"/>
                </a:moveTo>
                <a:lnTo>
                  <a:pt x="1911815" y="0"/>
                </a:lnTo>
                <a:lnTo>
                  <a:pt x="1911815" y="1023384"/>
                </a:lnTo>
                <a:lnTo>
                  <a:pt x="0" y="1023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25229" y="4070096"/>
            <a:ext cx="1926762" cy="1031384"/>
          </a:xfrm>
          <a:custGeom>
            <a:avLst/>
            <a:gdLst/>
            <a:ahLst/>
            <a:cxnLst/>
            <a:rect r="r" b="b" t="t" l="l"/>
            <a:pathLst>
              <a:path h="1031384" w="1926762">
                <a:moveTo>
                  <a:pt x="0" y="0"/>
                </a:moveTo>
                <a:lnTo>
                  <a:pt x="1926762" y="0"/>
                </a:lnTo>
                <a:lnTo>
                  <a:pt x="1926762" y="1031384"/>
                </a:lnTo>
                <a:lnTo>
                  <a:pt x="0" y="10313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39318" y="6038850"/>
            <a:ext cx="4450635" cy="1508026"/>
            <a:chOff x="0" y="0"/>
            <a:chExt cx="5934180" cy="201070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0"/>
              <a:ext cx="5934180" cy="5356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96"/>
                </a:lnSpc>
                <a:spcBef>
                  <a:spcPct val="0"/>
                </a:spcBef>
              </a:pPr>
              <a:r>
                <a:rPr lang="en-US" b="true" sz="2663" spc="133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DEPOSIT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831930"/>
              <a:ext cx="5934180" cy="1178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USDC, MON, WBTC into a Parmelia Wallet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19850" y="6038850"/>
            <a:ext cx="4010025" cy="1442720"/>
            <a:chOff x="0" y="0"/>
            <a:chExt cx="5346700" cy="192362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9525"/>
              <a:ext cx="53467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SEND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744855"/>
              <a:ext cx="5346700" cy="1178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Transfer wallets inside or outside Parmelia, gassless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72950" y="6038850"/>
            <a:ext cx="4010025" cy="1442720"/>
            <a:chOff x="0" y="0"/>
            <a:chExt cx="5346700" cy="192362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53467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REQUEST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744855"/>
              <a:ext cx="5346700" cy="1178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Create payment links and QR codes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318" y="1364410"/>
            <a:ext cx="16954500" cy="2857529"/>
            <a:chOff x="0" y="0"/>
            <a:chExt cx="22606000" cy="381003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19075"/>
              <a:ext cx="22606000" cy="2447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50"/>
                </a:lnSpc>
              </a:pPr>
              <a:r>
                <a:rPr lang="en-US" sz="7500" spc="-75">
                  <a:solidFill>
                    <a:srgbClr val="FFFFFF"/>
                  </a:solidFill>
                  <a:latin typeface="Shippori Antique"/>
                  <a:ea typeface="Shippori Antique"/>
                  <a:cs typeface="Shippori Antique"/>
                  <a:sym typeface="Shippori Antique"/>
                </a:rPr>
                <a:t>Make sending and receiving </a:t>
              </a:r>
            </a:p>
            <a:p>
              <a:pPr algn="l" marL="0" indent="0" lvl="0">
                <a:lnSpc>
                  <a:spcPts val="6750"/>
                </a:lnSpc>
                <a:spcBef>
                  <a:spcPct val="0"/>
                </a:spcBef>
              </a:pPr>
              <a:r>
                <a:rPr lang="en-US" sz="7500" spc="-75">
                  <a:solidFill>
                    <a:srgbClr val="FFFFFF"/>
                  </a:solidFill>
                  <a:latin typeface="Shippori Antique"/>
                  <a:ea typeface="Shippori Antique"/>
                  <a:cs typeface="Shippori Antique"/>
                  <a:sym typeface="Shippori Antique"/>
                </a:rPr>
                <a:t>crypto feel great.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17913"/>
              <a:ext cx="226060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104775">
            <a:solidFill>
              <a:srgbClr val="DEA6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177962" y="1679320"/>
            <a:ext cx="1148057" cy="1329329"/>
          </a:xfrm>
          <a:custGeom>
            <a:avLst/>
            <a:gdLst/>
            <a:ahLst/>
            <a:cxnLst/>
            <a:rect r="r" b="b" t="t" l="l"/>
            <a:pathLst>
              <a:path h="1329329" w="1148057">
                <a:moveTo>
                  <a:pt x="0" y="0"/>
                </a:moveTo>
                <a:lnTo>
                  <a:pt x="1148057" y="0"/>
                </a:lnTo>
                <a:lnTo>
                  <a:pt x="1148057" y="1329329"/>
                </a:lnTo>
                <a:lnTo>
                  <a:pt x="0" y="1329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09601" y="4766548"/>
            <a:ext cx="1606967" cy="1115424"/>
          </a:xfrm>
          <a:custGeom>
            <a:avLst/>
            <a:gdLst/>
            <a:ahLst/>
            <a:cxnLst/>
            <a:rect r="r" b="b" t="t" l="l"/>
            <a:pathLst>
              <a:path h="1115424" w="1606967">
                <a:moveTo>
                  <a:pt x="0" y="0"/>
                </a:moveTo>
                <a:lnTo>
                  <a:pt x="1606967" y="0"/>
                </a:lnTo>
                <a:lnTo>
                  <a:pt x="1606967" y="1115425"/>
                </a:lnTo>
                <a:lnTo>
                  <a:pt x="0" y="111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759999" y="4631808"/>
            <a:ext cx="1911815" cy="1023384"/>
          </a:xfrm>
          <a:custGeom>
            <a:avLst/>
            <a:gdLst/>
            <a:ahLst/>
            <a:cxnLst/>
            <a:rect r="r" b="b" t="t" l="l"/>
            <a:pathLst>
              <a:path h="1023384" w="1911815">
                <a:moveTo>
                  <a:pt x="0" y="0"/>
                </a:moveTo>
                <a:lnTo>
                  <a:pt x="1911816" y="0"/>
                </a:lnTo>
                <a:lnTo>
                  <a:pt x="1911816" y="1023384"/>
                </a:lnTo>
                <a:lnTo>
                  <a:pt x="0" y="1023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3214582" y="4766548"/>
            <a:ext cx="1926762" cy="1031384"/>
          </a:xfrm>
          <a:custGeom>
            <a:avLst/>
            <a:gdLst/>
            <a:ahLst/>
            <a:cxnLst/>
            <a:rect r="r" b="b" t="t" l="l"/>
            <a:pathLst>
              <a:path h="1031384" w="1926762">
                <a:moveTo>
                  <a:pt x="0" y="0"/>
                </a:moveTo>
                <a:lnTo>
                  <a:pt x="1926761" y="0"/>
                </a:lnTo>
                <a:lnTo>
                  <a:pt x="1926761" y="1031384"/>
                </a:lnTo>
                <a:lnTo>
                  <a:pt x="0" y="10313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66750" y="6758645"/>
            <a:ext cx="4450635" cy="1508026"/>
            <a:chOff x="0" y="0"/>
            <a:chExt cx="5934180" cy="201070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0"/>
              <a:ext cx="5934180" cy="5356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96"/>
                </a:lnSpc>
                <a:spcBef>
                  <a:spcPct val="0"/>
                </a:spcBef>
              </a:pPr>
              <a:r>
                <a:rPr lang="en-US" b="true" sz="2663" spc="133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PAY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831930"/>
              <a:ext cx="5934180" cy="1178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Complete a payment form a link, QR or username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47282" y="6758645"/>
            <a:ext cx="4010025" cy="1442720"/>
            <a:chOff x="0" y="0"/>
            <a:chExt cx="5346700" cy="192362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9525"/>
              <a:ext cx="53467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SCAN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744855"/>
              <a:ext cx="5346700" cy="1178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Use QR flows for in person payments intent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00382" y="6758645"/>
            <a:ext cx="4010025" cy="1442720"/>
            <a:chOff x="0" y="0"/>
            <a:chExt cx="5346700" cy="192362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53467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TRACK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744855"/>
              <a:ext cx="5346700" cy="1178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View transaction history and receipts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104775">
            <a:solidFill>
              <a:srgbClr val="D7D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867135"/>
            <a:ext cx="13415475" cy="122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6"/>
              </a:lnSpc>
              <a:spcBef>
                <a:spcPct val="0"/>
              </a:spcBef>
            </a:pPr>
            <a:r>
              <a:rPr lang="en-US" sz="9918" spc="-99">
                <a:solidFill>
                  <a:srgbClr val="FFFFFF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Your money is yours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541370" y="1825527"/>
            <a:ext cx="1269542" cy="1469995"/>
          </a:xfrm>
          <a:custGeom>
            <a:avLst/>
            <a:gdLst/>
            <a:ahLst/>
            <a:cxnLst/>
            <a:rect r="r" b="b" t="t" l="l"/>
            <a:pathLst>
              <a:path h="1469995" w="1269542">
                <a:moveTo>
                  <a:pt x="0" y="0"/>
                </a:moveTo>
                <a:lnTo>
                  <a:pt x="1269542" y="0"/>
                </a:lnTo>
                <a:lnTo>
                  <a:pt x="1269542" y="1469996"/>
                </a:lnTo>
                <a:lnTo>
                  <a:pt x="0" y="1469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61730" y="4030658"/>
            <a:ext cx="6724499" cy="4678842"/>
            <a:chOff x="0" y="0"/>
            <a:chExt cx="2044154" cy="14223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4154" cy="1422317"/>
            </a:xfrm>
            <a:custGeom>
              <a:avLst/>
              <a:gdLst/>
              <a:ahLst/>
              <a:cxnLst/>
              <a:rect r="r" b="b" t="t" l="l"/>
              <a:pathLst>
                <a:path h="1422317" w="2044154">
                  <a:moveTo>
                    <a:pt x="2044154" y="57565"/>
                  </a:moveTo>
                  <a:lnTo>
                    <a:pt x="2044154" y="1364752"/>
                  </a:lnTo>
                  <a:cubicBezTo>
                    <a:pt x="2044154" y="1380020"/>
                    <a:pt x="2038089" y="1394661"/>
                    <a:pt x="2027294" y="1405457"/>
                  </a:cubicBezTo>
                  <a:cubicBezTo>
                    <a:pt x="2016498" y="1416253"/>
                    <a:pt x="2001856" y="1422317"/>
                    <a:pt x="1986589" y="1422317"/>
                  </a:cubicBezTo>
                  <a:lnTo>
                    <a:pt x="57565" y="1422317"/>
                  </a:lnTo>
                  <a:cubicBezTo>
                    <a:pt x="25773" y="1422317"/>
                    <a:pt x="0" y="1396545"/>
                    <a:pt x="0" y="1364752"/>
                  </a:cubicBezTo>
                  <a:lnTo>
                    <a:pt x="0" y="57565"/>
                  </a:lnTo>
                  <a:cubicBezTo>
                    <a:pt x="0" y="25773"/>
                    <a:pt x="25773" y="0"/>
                    <a:pt x="57565" y="0"/>
                  </a:cubicBezTo>
                  <a:lnTo>
                    <a:pt x="1986589" y="0"/>
                  </a:lnTo>
                  <a:cubicBezTo>
                    <a:pt x="2018382" y="0"/>
                    <a:pt x="2044154" y="25773"/>
                    <a:pt x="2044154" y="57565"/>
                  </a:cubicBezTo>
                  <a:close/>
                </a:path>
              </a:pathLst>
            </a:custGeom>
            <a:ln w="38100" cap="rnd">
              <a:solidFill>
                <a:srgbClr val="DEA6BC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44154" cy="1431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11555" y="3940684"/>
            <a:ext cx="7209695" cy="4528885"/>
            <a:chOff x="0" y="0"/>
            <a:chExt cx="2191647" cy="13767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1647" cy="1376732"/>
            </a:xfrm>
            <a:custGeom>
              <a:avLst/>
              <a:gdLst/>
              <a:ahLst/>
              <a:cxnLst/>
              <a:rect r="r" b="b" t="t" l="l"/>
              <a:pathLst>
                <a:path h="1376732" w="2191647">
                  <a:moveTo>
                    <a:pt x="2191647" y="53691"/>
                  </a:moveTo>
                  <a:lnTo>
                    <a:pt x="2191647" y="1323041"/>
                  </a:lnTo>
                  <a:cubicBezTo>
                    <a:pt x="2191647" y="1337281"/>
                    <a:pt x="2185991" y="1350937"/>
                    <a:pt x="2175921" y="1361006"/>
                  </a:cubicBezTo>
                  <a:cubicBezTo>
                    <a:pt x="2165852" y="1371075"/>
                    <a:pt x="2152196" y="1376732"/>
                    <a:pt x="2137956" y="1376732"/>
                  </a:cubicBezTo>
                  <a:lnTo>
                    <a:pt x="53691" y="1376732"/>
                  </a:lnTo>
                  <a:cubicBezTo>
                    <a:pt x="39451" y="1376732"/>
                    <a:pt x="25795" y="1371075"/>
                    <a:pt x="15726" y="1361006"/>
                  </a:cubicBezTo>
                  <a:cubicBezTo>
                    <a:pt x="5657" y="1350937"/>
                    <a:pt x="0" y="1337281"/>
                    <a:pt x="0" y="1323041"/>
                  </a:cubicBezTo>
                  <a:lnTo>
                    <a:pt x="0" y="53691"/>
                  </a:lnTo>
                  <a:cubicBezTo>
                    <a:pt x="0" y="39451"/>
                    <a:pt x="5657" y="25795"/>
                    <a:pt x="15726" y="15726"/>
                  </a:cubicBezTo>
                  <a:cubicBezTo>
                    <a:pt x="25795" y="5657"/>
                    <a:pt x="39451" y="0"/>
                    <a:pt x="53691" y="0"/>
                  </a:cubicBezTo>
                  <a:lnTo>
                    <a:pt x="2137956" y="0"/>
                  </a:lnTo>
                  <a:cubicBezTo>
                    <a:pt x="2152196" y="0"/>
                    <a:pt x="2165852" y="5657"/>
                    <a:pt x="2175921" y="15726"/>
                  </a:cubicBezTo>
                  <a:cubicBezTo>
                    <a:pt x="2185991" y="25795"/>
                    <a:pt x="2191647" y="39451"/>
                    <a:pt x="2191647" y="53691"/>
                  </a:cubicBezTo>
                  <a:close/>
                </a:path>
              </a:pathLst>
            </a:custGeom>
            <a:ln w="38100" cap="rnd">
              <a:solidFill>
                <a:srgbClr val="A7D4D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1647" cy="1386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24355" y="5668225"/>
            <a:ext cx="2649124" cy="794737"/>
          </a:xfrm>
          <a:custGeom>
            <a:avLst/>
            <a:gdLst/>
            <a:ahLst/>
            <a:cxnLst/>
            <a:rect r="r" b="b" t="t" l="l"/>
            <a:pathLst>
              <a:path h="794737" w="2649124">
                <a:moveTo>
                  <a:pt x="0" y="0"/>
                </a:moveTo>
                <a:lnTo>
                  <a:pt x="2649124" y="0"/>
                </a:lnTo>
                <a:lnTo>
                  <a:pt x="2649124" y="794737"/>
                </a:lnTo>
                <a:lnTo>
                  <a:pt x="0" y="794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66750" y="8981078"/>
            <a:ext cx="16809048" cy="91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17"/>
              </a:lnSpc>
              <a:spcBef>
                <a:spcPct val="0"/>
              </a:spcBef>
            </a:pPr>
            <a:r>
              <a:rPr lang="en-US" sz="265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Traditional wallets and neobank style wallets often keep users inside a closed ecosystem. Parmelia is built as an open, decentralized payment rail.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7753" y="4421881"/>
            <a:ext cx="611255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3999" spc="-39">
                <a:solidFill>
                  <a:srgbClr val="DEA6BC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Closed ecosystem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08591" y="4421881"/>
            <a:ext cx="611255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sz="3999" spc="-39">
                <a:solidFill>
                  <a:srgbClr val="A7D4DE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Parmelia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7704" y="5421753"/>
            <a:ext cx="6112553" cy="2438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 spc="-30">
                <a:solidFill>
                  <a:srgbClr val="DEA6BC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• P</a:t>
            </a:r>
            <a:r>
              <a:rPr lang="en-US" sz="3000" spc="-30">
                <a:solidFill>
                  <a:srgbClr val="DEA6BC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latform controls the experience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3000" spc="-30">
                <a:solidFill>
                  <a:srgbClr val="DEA6BC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• User is trapped inside the app</a:t>
            </a:r>
          </a:p>
          <a:p>
            <a:pPr algn="l">
              <a:lnSpc>
                <a:spcPts val="2700"/>
              </a:lnSpc>
            </a:pP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3000" spc="-30">
                <a:solidFill>
                  <a:srgbClr val="DEA6BC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• Limited portability of payment rails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60126" y="5421753"/>
            <a:ext cx="6112553" cy="2781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 spc="-30">
                <a:solidFill>
                  <a:srgbClr val="A7D4DE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• Non custodial by design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3000" spc="-30">
                <a:solidFill>
                  <a:srgbClr val="A7D4DE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• 100% onchain settlement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  <a:r>
              <a:rPr lang="en-US" sz="3000" spc="-30">
                <a:solidFill>
                  <a:srgbClr val="A7D4DE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• Send inside or outside Parmelia</a:t>
            </a:r>
          </a:p>
          <a:p>
            <a:pPr algn="l">
              <a:lnSpc>
                <a:spcPts val="2700"/>
              </a:lnSpc>
            </a:pP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3000" spc="-30">
                <a:solidFill>
                  <a:srgbClr val="A7D4DE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• Built for payments, not just storage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104775">
            <a:solidFill>
              <a:srgbClr val="D7D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867135"/>
            <a:ext cx="13415475" cy="2359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6"/>
              </a:lnSpc>
              <a:spcBef>
                <a:spcPct val="0"/>
              </a:spcBef>
            </a:pPr>
            <a:r>
              <a:rPr lang="en-US" sz="9918" spc="-99">
                <a:solidFill>
                  <a:srgbClr val="FFFFFF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Monetize the flow, not the friction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907277" y="2455348"/>
            <a:ext cx="1269542" cy="1469995"/>
          </a:xfrm>
          <a:custGeom>
            <a:avLst/>
            <a:gdLst/>
            <a:ahLst/>
            <a:cxnLst/>
            <a:rect r="r" b="b" t="t" l="l"/>
            <a:pathLst>
              <a:path h="1469995" w="1269542">
                <a:moveTo>
                  <a:pt x="0" y="0"/>
                </a:moveTo>
                <a:lnTo>
                  <a:pt x="1269542" y="0"/>
                </a:lnTo>
                <a:lnTo>
                  <a:pt x="1269542" y="1469995"/>
                </a:lnTo>
                <a:lnTo>
                  <a:pt x="0" y="1469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14350" y="5322010"/>
            <a:ext cx="5732745" cy="2062517"/>
            <a:chOff x="0" y="0"/>
            <a:chExt cx="7643661" cy="275002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7643661" cy="689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17"/>
                </a:lnSpc>
                <a:spcBef>
                  <a:spcPct val="0"/>
                </a:spcBef>
              </a:pPr>
              <a:r>
                <a:rPr lang="en-US" b="true" sz="3431" spc="171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SWAPS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66257"/>
              <a:ext cx="7643661" cy="1683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03"/>
                </a:lnSpc>
                <a:spcBef>
                  <a:spcPct val="0"/>
                </a:spcBef>
              </a:pPr>
              <a:r>
                <a:rPr lang="en-US" sz="3716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Fees on USDC, MON and WBTC swaps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40107" y="5322010"/>
            <a:ext cx="5732745" cy="2062517"/>
            <a:chOff x="0" y="0"/>
            <a:chExt cx="7643661" cy="275002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7643661" cy="689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17"/>
                </a:lnSpc>
                <a:spcBef>
                  <a:spcPct val="0"/>
                </a:spcBef>
              </a:pPr>
              <a:r>
                <a:rPr lang="en-US" b="true" sz="3431" spc="171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CROSSCHAIN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66257"/>
              <a:ext cx="7643661" cy="1683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03"/>
                </a:lnSpc>
                <a:spcBef>
                  <a:spcPct val="0"/>
                </a:spcBef>
              </a:pPr>
              <a:r>
                <a:rPr lang="en-US" sz="3716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Convenience fees on automatic conversion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40905" y="5322010"/>
            <a:ext cx="5732745" cy="2062517"/>
            <a:chOff x="0" y="0"/>
            <a:chExt cx="7643661" cy="275002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7643661" cy="689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17"/>
                </a:lnSpc>
                <a:spcBef>
                  <a:spcPct val="0"/>
                </a:spcBef>
              </a:pPr>
              <a:r>
                <a:rPr lang="en-US" b="true" sz="3431" spc="171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EARN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66257"/>
              <a:ext cx="7643661" cy="1683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03"/>
                </a:lnSpc>
                <a:spcBef>
                  <a:spcPct val="0"/>
                </a:spcBef>
              </a:pPr>
              <a:r>
                <a:rPr lang="en-US" sz="3716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Yield strategies with explicit user consent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104775">
            <a:solidFill>
              <a:srgbClr val="D7D7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24152" y="1850350"/>
            <a:ext cx="13415475" cy="122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6"/>
              </a:lnSpc>
              <a:spcBef>
                <a:spcPct val="0"/>
              </a:spcBef>
            </a:pPr>
            <a:r>
              <a:rPr lang="en-US" sz="9918" spc="-99">
                <a:solidFill>
                  <a:srgbClr val="FFFFFF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Coming next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4469" y="4377279"/>
            <a:ext cx="8476965" cy="5238811"/>
            <a:chOff x="0" y="0"/>
            <a:chExt cx="11302620" cy="698508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719795" y="0"/>
              <a:ext cx="10582824" cy="314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48712" indent="-424356" lvl="1">
                <a:lnSpc>
                  <a:spcPts val="4717"/>
                </a:lnSpc>
                <a:buFont typeface="Arial"/>
                <a:buChar char="•"/>
              </a:pPr>
              <a:r>
                <a:rPr lang="en-US" b="true" sz="3931" spc="196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SWAPS</a:t>
              </a:r>
            </a:p>
            <a:p>
              <a:pPr algn="l" marL="848712" indent="-424356" lvl="1">
                <a:lnSpc>
                  <a:spcPts val="4717"/>
                </a:lnSpc>
                <a:buFont typeface="Arial"/>
                <a:buChar char="•"/>
              </a:pPr>
              <a:r>
                <a:rPr lang="en-US" b="true" sz="3931" spc="196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EARN</a:t>
              </a:r>
            </a:p>
            <a:p>
              <a:pPr algn="l" marL="848712" indent="-424356" lvl="1">
                <a:lnSpc>
                  <a:spcPts val="47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931" spc="196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CROSSCHAIN DEPOSITS/WITHDRAWALS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172801"/>
              <a:ext cx="7643661" cy="81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0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179613" y="4377279"/>
            <a:ext cx="8476965" cy="4648261"/>
            <a:chOff x="0" y="0"/>
            <a:chExt cx="11302620" cy="619768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719795" y="0"/>
              <a:ext cx="10582824" cy="2362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48712" indent="-424356" lvl="1">
                <a:lnSpc>
                  <a:spcPts val="4717"/>
                </a:lnSpc>
                <a:buFont typeface="Arial"/>
                <a:buChar char="•"/>
              </a:pPr>
              <a:r>
                <a:rPr lang="en-US" b="true" sz="3931" spc="196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PREPAID CARD</a:t>
              </a:r>
            </a:p>
            <a:p>
              <a:pPr algn="l" marL="848712" indent="-424356" lvl="1">
                <a:lnSpc>
                  <a:spcPts val="4717"/>
                </a:lnSpc>
                <a:buFont typeface="Arial"/>
                <a:buChar char="•"/>
              </a:pPr>
              <a:r>
                <a:rPr lang="en-US" b="true" sz="3931" spc="196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FIAT Q</a:t>
              </a:r>
            </a:p>
            <a:p>
              <a:pPr algn="l" marL="848712" indent="-424356" lvl="1">
                <a:lnSpc>
                  <a:spcPts val="471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931" spc="196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PARMELIA SDK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385401"/>
              <a:ext cx="7643661" cy="81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03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152400">
            <a:solidFill>
              <a:srgbClr val="A7D4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129615"/>
            <a:ext cx="1071129" cy="743489"/>
          </a:xfrm>
          <a:custGeom>
            <a:avLst/>
            <a:gdLst/>
            <a:ahLst/>
            <a:cxnLst/>
            <a:rect r="r" b="b" t="t" l="l"/>
            <a:pathLst>
              <a:path h="743489" w="1071129">
                <a:moveTo>
                  <a:pt x="0" y="0"/>
                </a:moveTo>
                <a:lnTo>
                  <a:pt x="1071129" y="0"/>
                </a:lnTo>
                <a:lnTo>
                  <a:pt x="1071129" y="743489"/>
                </a:lnTo>
                <a:lnTo>
                  <a:pt x="0" y="743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33257" y="1197625"/>
            <a:ext cx="1134832" cy="607469"/>
          </a:xfrm>
          <a:custGeom>
            <a:avLst/>
            <a:gdLst/>
            <a:ahLst/>
            <a:cxnLst/>
            <a:rect r="r" b="b" t="t" l="l"/>
            <a:pathLst>
              <a:path h="607469" w="1134832">
                <a:moveTo>
                  <a:pt x="0" y="0"/>
                </a:moveTo>
                <a:lnTo>
                  <a:pt x="1134831" y="0"/>
                </a:lnTo>
                <a:lnTo>
                  <a:pt x="1134831" y="607469"/>
                </a:lnTo>
                <a:lnTo>
                  <a:pt x="0" y="607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72135" y="8143380"/>
            <a:ext cx="1450593" cy="1679634"/>
          </a:xfrm>
          <a:custGeom>
            <a:avLst/>
            <a:gdLst/>
            <a:ahLst/>
            <a:cxnLst/>
            <a:rect r="r" b="b" t="t" l="l"/>
            <a:pathLst>
              <a:path h="1679634" w="1450593">
                <a:moveTo>
                  <a:pt x="0" y="0"/>
                </a:moveTo>
                <a:lnTo>
                  <a:pt x="1450593" y="0"/>
                </a:lnTo>
                <a:lnTo>
                  <a:pt x="1450593" y="1679635"/>
                </a:lnTo>
                <a:lnTo>
                  <a:pt x="0" y="1679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10143" y="1728894"/>
            <a:ext cx="3312578" cy="73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8"/>
              </a:lnSpc>
              <a:spcBef>
                <a:spcPct val="0"/>
              </a:spcBef>
            </a:pPr>
            <a:r>
              <a:rPr lang="en-US" sz="4348" spc="-43">
                <a:solidFill>
                  <a:srgbClr val="DED9A6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Par</a:t>
            </a:r>
            <a:r>
              <a:rPr lang="en-US" sz="4348" spc="-43">
                <a:solidFill>
                  <a:srgbClr val="FFFFFF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   </a:t>
            </a:r>
            <a:r>
              <a:rPr lang="en-US" sz="4348" spc="-43">
                <a:solidFill>
                  <a:srgbClr val="A7D4DE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me</a:t>
            </a:r>
            <a:r>
              <a:rPr lang="en-US" sz="4348" spc="-43">
                <a:solidFill>
                  <a:srgbClr val="FFFFFF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     </a:t>
            </a:r>
            <a:r>
              <a:rPr lang="en-US" sz="4348" spc="-43">
                <a:solidFill>
                  <a:srgbClr val="DEA6BC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lia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156396" y="1197625"/>
            <a:ext cx="1072371" cy="574034"/>
          </a:xfrm>
          <a:custGeom>
            <a:avLst/>
            <a:gdLst/>
            <a:ahLst/>
            <a:cxnLst/>
            <a:rect r="r" b="b" t="t" l="l"/>
            <a:pathLst>
              <a:path h="574034" w="1072371">
                <a:moveTo>
                  <a:pt x="0" y="0"/>
                </a:moveTo>
                <a:lnTo>
                  <a:pt x="1072371" y="0"/>
                </a:lnTo>
                <a:lnTo>
                  <a:pt x="1072371" y="574034"/>
                </a:lnTo>
                <a:lnTo>
                  <a:pt x="0" y="5740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67471" y="4682400"/>
            <a:ext cx="13353059" cy="119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08"/>
              </a:lnSpc>
              <a:spcBef>
                <a:spcPct val="0"/>
              </a:spcBef>
            </a:pPr>
            <a:r>
              <a:rPr lang="en-US" sz="9676" spc="-96">
                <a:solidFill>
                  <a:srgbClr val="FFFFFF"/>
                </a:solidFill>
                <a:latin typeface="Shippori Antique"/>
                <a:ea typeface="Shippori Antique"/>
                <a:cs typeface="Shippori Antique"/>
                <a:sym typeface="Shippori Antique"/>
              </a:rPr>
              <a:t>demo: parmelia.me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Parmelia: Ahorra y Paga</dc:description>
  <dc:identifier>DAG43qnYzis</dc:identifier>
  <dcterms:modified xsi:type="dcterms:W3CDTF">2011-08-01T06:04:30Z</dcterms:modified>
  <cp:revision>1</cp:revision>
  <dc:title>Copia de Presentación - Parmelia: Ahorra y Paga</dc:title>
</cp:coreProperties>
</file>