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GatoPago pitch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3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6565392"/>
            <a:ext cx="11548872" cy="0"/>
          </a:xfrm>
          <a:prstGeom prst="line">
            <a:avLst/>
          </a:prstGeom>
          <a:noFill/>
          <a:ln w="6350">
            <a:solidFill>
              <a:srgbClr val="163A51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0196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4B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GatoPago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8869680" y="6601968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4B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cripto como dinero local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futuristic_high_tech_digital_illustration_batch_1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48640"/>
            <a:ext cx="596646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35" dirty="0">
                <a:solidFill>
                  <a:srgbClr val="000000"/>
                </a:solidFill>
              </a:rPr>
              <a:t>🐱</a:t>
            </a:r>
            <a:endParaRPr lang="en-US" sz="3335" dirty="0"/>
          </a:p>
        </p:txBody>
      </p:sp>
      <p:sp>
        <p:nvSpPr>
          <p:cNvPr id="4" name="Text 1"/>
          <p:cNvSpPr/>
          <p:nvPr/>
        </p:nvSpPr>
        <p:spPr>
          <a:xfrm>
            <a:off x="1347826" y="566928"/>
            <a:ext cx="3579876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8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Gato</a:t>
            </a:r>
            <a:pPr indent="0" marL="0">
              <a:buNone/>
            </a:pPr>
            <a:r>
              <a:rPr lang="en-US" sz="3480" b="1" dirty="0">
                <a:solidFill>
                  <a:srgbClr val="26F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Pago</a:t>
            </a:r>
            <a:endParaRPr lang="en-US" sz="3480" dirty="0"/>
          </a:p>
        </p:txBody>
      </p:sp>
      <p:sp>
        <p:nvSpPr>
          <p:cNvPr id="5" name="Text 2"/>
          <p:cNvSpPr/>
          <p:nvPr/>
        </p:nvSpPr>
        <p:spPr>
          <a:xfrm>
            <a:off x="713232" y="160020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 cripto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dinero local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49808" y="309067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4CFE8"/>
                </a:solidFill>
              </a:rPr>
              <a:t>Una capa universal para pagar, cobrar, convertir y transferir entre moneda local y blockchain.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9808" y="4041648"/>
            <a:ext cx="3429000" cy="310896"/>
          </a:xfrm>
          <a:prstGeom prst="roundRect">
            <a:avLst>
              <a:gd name="adj" fmla="val 20588"/>
            </a:avLst>
          </a:prstGeom>
          <a:solidFill>
            <a:srgbClr val="26F7C7">
              <a:alpha val="28000"/>
            </a:srgbClr>
          </a:solidFill>
          <a:ln w="12700">
            <a:solidFill>
              <a:srgbClr val="26F7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105656"/>
            <a:ext cx="3282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AF7FF"/>
                </a:solidFill>
              </a:rPr>
              <a:t>PAYIN · PAYOUT · WALLET · MULTICHAIN · IA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768096" y="4892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6F7C7"/>
                </a:solidFill>
              </a:rPr>
              <a:t>Tú decides qué hacer.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6F7C7"/>
                </a:solidFill>
              </a:rPr>
              <a:t>GatoPago decide cómo hacerlo.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017520" y="65562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4CFE8"/>
                </a:solidFill>
              </a:rPr>
              <a:t>Infraestructura de pagos entre moneda local y blockchain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cinematic_futuristic_digital_illustration_batch_2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0" y="0"/>
            <a:ext cx="5790895" cy="6236208"/>
          </a:xfrm>
          <a:prstGeom prst="rect">
            <a:avLst/>
          </a:prstGeom>
          <a:solidFill>
            <a:srgbClr val="030814">
              <a:alpha val="92000"/>
            </a:srgbClr>
          </a:solidFill>
          <a:ln w="12700">
            <a:solidFill>
              <a:srgbClr val="030814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784848" y="5943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F7C7"/>
                </a:solidFill>
              </a:rPr>
              <a:t>PROBLEMA REAL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784848" y="84124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Cripto no se usa con naturalidad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39712" y="18470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CFE8"/>
                </a:solidFill>
              </a:rPr>
              <a:t>El valor está en blockchain, pero la experiencia sigue fragmentada.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12280" y="2514600"/>
            <a:ext cx="2057400" cy="676656"/>
          </a:xfrm>
          <a:prstGeom prst="roundRect">
            <a:avLst>
              <a:gd name="adj" fmla="val 13514"/>
            </a:avLst>
          </a:prstGeom>
          <a:solidFill>
            <a:srgbClr val="06172A">
              <a:alpha val="91000"/>
            </a:srgbClr>
          </a:solidFill>
          <a:ln w="12700">
            <a:solidFill>
              <a:srgbClr val="FF4C64">
                <a:alpha val="7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22008" y="2651760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📲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306056" y="2688336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AF7FF"/>
                </a:solidFill>
              </a:rPr>
              <a:t>Múltiples apps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9098280" y="2514600"/>
            <a:ext cx="2240280" cy="676656"/>
          </a:xfrm>
          <a:prstGeom prst="roundRect">
            <a:avLst>
              <a:gd name="adj" fmla="val 13514"/>
            </a:avLst>
          </a:prstGeom>
          <a:solidFill>
            <a:srgbClr val="06172A">
              <a:alpha val="91000"/>
            </a:srgbClr>
          </a:solidFill>
          <a:ln w="12700">
            <a:solidFill>
              <a:srgbClr val="FFB84D">
                <a:alpha val="7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08008" y="2651760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🔁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592056" y="2688336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AF7FF"/>
                </a:solidFill>
              </a:rPr>
              <a:t>Conversión manual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812280" y="3429000"/>
            <a:ext cx="2057400" cy="676656"/>
          </a:xfrm>
          <a:prstGeom prst="roundRect">
            <a:avLst>
              <a:gd name="adj" fmla="val 13514"/>
            </a:avLst>
          </a:prstGeom>
          <a:solidFill>
            <a:srgbClr val="06172A">
              <a:alpha val="91000"/>
            </a:srgbClr>
          </a:solidFill>
          <a:ln w="12700">
            <a:solidFill>
              <a:srgbClr val="3098FF">
                <a:alpha val="7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22008" y="3566160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🌐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306056" y="3602736"/>
            <a:ext cx="1453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AF7FF"/>
                </a:solidFill>
              </a:rPr>
              <a:t>Redes complejas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9098280" y="3429000"/>
            <a:ext cx="2240280" cy="676656"/>
          </a:xfrm>
          <a:prstGeom prst="roundRect">
            <a:avLst>
              <a:gd name="adj" fmla="val 13514"/>
            </a:avLst>
          </a:prstGeom>
          <a:solidFill>
            <a:srgbClr val="06172A">
              <a:alpha val="91000"/>
            </a:srgbClr>
          </a:solidFill>
          <a:ln w="12700">
            <a:solidFill>
              <a:srgbClr val="8A5CFF">
                <a:alpha val="7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08008" y="3566160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⏱️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9592056" y="3602736"/>
            <a:ext cx="1636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AF7FF"/>
                </a:solidFill>
              </a:rPr>
              <a:t>Poco uso local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839712" y="479145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7FF"/>
                </a:solidFill>
              </a:rPr>
              <a:t>Exchange → Wallet → Red → Conversión → Pago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858000" y="5230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CFE8"/>
                </a:solidFill>
              </a:rPr>
              <a:t>Demasiados pasos para una acción simple.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017520" y="65562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4CFE8"/>
                </a:solidFill>
              </a:rPr>
              <a:t>Infraestructura de pagos entre moneda local y blockchain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01E"/>
          </a:solidFill>
          <a:ln w="12700">
            <a:solidFill>
              <a:srgbClr val="05101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566928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F7C7"/>
                </a:solidFill>
              </a:rPr>
              <a:t>INSIGHT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813816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blockchain debe desaparecer de la experiencia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94944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CFE8"/>
                </a:solidFill>
              </a:rPr>
              <a:t>El usuario no quiere elegir red. Quiere pagar.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234440" y="3703320"/>
            <a:ext cx="2240280" cy="0"/>
          </a:xfrm>
          <a:prstGeom prst="line">
            <a:avLst/>
          </a:prstGeom>
          <a:solidFill>
            <a:srgbClr val="FFFFFF">
              <a:alpha val="0"/>
            </a:srgbClr>
          </a:solidFill>
          <a:ln w="3175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00600" y="3703320"/>
            <a:ext cx="2258568" cy="0"/>
          </a:xfrm>
          <a:prstGeom prst="line">
            <a:avLst/>
          </a:prstGeom>
          <a:solidFill>
            <a:srgbClr val="FFFFFF">
              <a:alpha val="0"/>
            </a:srgbClr>
          </a:solidFill>
          <a:ln w="3175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430768" y="3703320"/>
            <a:ext cx="2130552" cy="0"/>
          </a:xfrm>
          <a:prstGeom prst="line">
            <a:avLst/>
          </a:prstGeom>
          <a:solidFill>
            <a:srgbClr val="FFFFFF">
              <a:alpha val="0"/>
            </a:srgbClr>
          </a:solidFill>
          <a:ln w="3175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66928" y="3072384"/>
            <a:ext cx="1600200" cy="1261872"/>
          </a:xfrm>
          <a:prstGeom prst="roundRect">
            <a:avLst>
              <a:gd name="adj" fmla="val 5797"/>
            </a:avLst>
          </a:prstGeom>
          <a:solidFill>
            <a:srgbClr val="071B2E"/>
          </a:solidFill>
          <a:ln w="17780">
            <a:solidFill>
              <a:srgbClr val="26F7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00400"/>
            <a:ext cx="1453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Intención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“pagar Bs 500”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2926080"/>
            <a:ext cx="1536192" cy="1554480"/>
          </a:xfrm>
          <a:prstGeom prst="roundRect">
            <a:avLst>
              <a:gd name="adj" fmla="val 4762"/>
            </a:avLst>
          </a:prstGeom>
          <a:solidFill>
            <a:srgbClr val="0B2C3A"/>
          </a:solidFill>
          <a:ln w="17780">
            <a:solidFill>
              <a:srgbClr val="26F7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3054096"/>
            <a:ext cx="13898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7FF"/>
                </a:solidFill>
              </a:rPr>
              <a:t>GatoPago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F7FF"/>
                </a:solidFill>
              </a:rPr>
              <a:t>rutea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040880" y="3072384"/>
            <a:ext cx="1664208" cy="1261872"/>
          </a:xfrm>
          <a:prstGeom prst="roundRect">
            <a:avLst>
              <a:gd name="adj" fmla="val 5797"/>
            </a:avLst>
          </a:prstGeom>
          <a:solidFill>
            <a:srgbClr val="071B2E"/>
          </a:solidFill>
          <a:ln w="17780">
            <a:solidFill>
              <a:srgbClr val="309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4032" y="3200400"/>
            <a:ext cx="15179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Blockchain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+ liquidez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0" y="3072384"/>
            <a:ext cx="1691640" cy="1261872"/>
          </a:xfrm>
          <a:prstGeom prst="roundRect">
            <a:avLst>
              <a:gd name="adj" fmla="val 5797"/>
            </a:avLst>
          </a:prstGeom>
          <a:solidFill>
            <a:srgbClr val="071B2E"/>
          </a:solidFill>
          <a:ln w="17780">
            <a:solidFill>
              <a:srgbClr val="2EF2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31552" y="3200400"/>
            <a:ext cx="15453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Destino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moneda local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1720" y="49560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AF7FF"/>
                </a:solidFill>
              </a:rPr>
              <a:t>El usuario expresa el resultado; la plataforma resuelve el camino.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864608" y="5650992"/>
            <a:ext cx="2468880" cy="310896"/>
          </a:xfrm>
          <a:prstGeom prst="roundRect">
            <a:avLst>
              <a:gd name="adj" fmla="val 20588"/>
            </a:avLst>
          </a:prstGeom>
          <a:solidFill>
            <a:srgbClr val="8A5CFF">
              <a:alpha val="28000"/>
            </a:srgbClr>
          </a:solidFill>
          <a:ln w="12700">
            <a:solidFill>
              <a:srgbClr val="8A5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5715000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AF7FF"/>
                </a:solidFill>
              </a:rPr>
              <a:t>INTENT-BASED PAYMENTS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3017520" y="65562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4CFE8"/>
                </a:solidFill>
              </a:rPr>
              <a:t>Infraestructura de pagos entre moneda local y blockchain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leek_dark_futuristic_neon_glow_fintech_crypto_batch_3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486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F7C7"/>
                </a:solidFill>
              </a:rPr>
              <a:t>SOLUCIÓN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58368" y="79552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GatoPago abstrae el ruteo completo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94944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CFE8"/>
                </a:solidFill>
              </a:rPr>
              <a:t>Una sola experiencia para pagar, cobrar, convertir y transferir.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63040" y="4069080"/>
            <a:ext cx="2331720" cy="0"/>
          </a:xfrm>
          <a:prstGeom prst="line">
            <a:avLst/>
          </a:prstGeom>
          <a:solidFill>
            <a:srgbClr val="FFFFFF">
              <a:alpha val="0"/>
            </a:srgbClr>
          </a:solidFill>
          <a:ln w="2921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5577840" y="4069080"/>
            <a:ext cx="2578608" cy="-914400"/>
          </a:xfrm>
          <a:prstGeom prst="line">
            <a:avLst/>
          </a:prstGeom>
          <a:solidFill>
            <a:srgbClr val="FFFFFF">
              <a:alpha val="0"/>
            </a:srgbClr>
          </a:solidFill>
          <a:ln w="2921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577840" y="4069080"/>
            <a:ext cx="2578608" cy="0"/>
          </a:xfrm>
          <a:prstGeom prst="line">
            <a:avLst/>
          </a:prstGeom>
          <a:solidFill>
            <a:srgbClr val="FFFFFF">
              <a:alpha val="0"/>
            </a:srgbClr>
          </a:solidFill>
          <a:ln w="29210">
            <a:solidFill>
              <a:srgbClr val="3098FF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577840" y="4069080"/>
            <a:ext cx="2578608" cy="886968"/>
          </a:xfrm>
          <a:prstGeom prst="line">
            <a:avLst/>
          </a:prstGeom>
          <a:solidFill>
            <a:srgbClr val="FFFFFF">
              <a:alpha val="0"/>
            </a:srgbClr>
          </a:solidFill>
          <a:ln w="29210">
            <a:solidFill>
              <a:srgbClr val="2EF2A4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03504" y="3529584"/>
            <a:ext cx="1737360" cy="1078992"/>
          </a:xfrm>
          <a:prstGeom prst="roundRect">
            <a:avLst>
              <a:gd name="adj" fmla="val 6780"/>
            </a:avLst>
          </a:prstGeom>
          <a:solidFill>
            <a:srgbClr val="071B2E"/>
          </a:solidFill>
          <a:ln w="17780">
            <a:solidFill>
              <a:srgbClr val="26F7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" y="3657600"/>
            <a:ext cx="15910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Usuario / Empresa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703320" y="3273552"/>
            <a:ext cx="2057400" cy="1572768"/>
          </a:xfrm>
          <a:prstGeom prst="roundRect">
            <a:avLst>
              <a:gd name="adj" fmla="val 4651"/>
            </a:avLst>
          </a:prstGeom>
          <a:solidFill>
            <a:srgbClr val="0A2A35"/>
          </a:solidFill>
          <a:ln w="17780">
            <a:solidFill>
              <a:srgbClr val="26F7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76472" y="3401568"/>
            <a:ext cx="191109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7FF"/>
                </a:solidFill>
              </a:rPr>
              <a:t>GatoPago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AF7FF"/>
                </a:solidFill>
              </a:rPr>
              <a:t>Orquestación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973568" y="2633472"/>
            <a:ext cx="1737360" cy="786384"/>
          </a:xfrm>
          <a:prstGeom prst="roundRect">
            <a:avLst>
              <a:gd name="adj" fmla="val 9302"/>
            </a:avLst>
          </a:prstGeom>
          <a:solidFill>
            <a:srgbClr val="071B2E"/>
          </a:solidFill>
          <a:ln w="17780">
            <a:solidFill>
              <a:srgbClr val="2EF2A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0" y="276148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7FF"/>
                </a:solidFill>
              </a:rPr>
              <a:t>Moneda local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973568" y="3675888"/>
            <a:ext cx="1737360" cy="786384"/>
          </a:xfrm>
          <a:prstGeom prst="roundRect">
            <a:avLst>
              <a:gd name="adj" fmla="val 9302"/>
            </a:avLst>
          </a:prstGeom>
          <a:solidFill>
            <a:srgbClr val="071B2E"/>
          </a:solidFill>
          <a:ln w="17780">
            <a:solidFill>
              <a:srgbClr val="3098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0" y="3803904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7FF"/>
                </a:solidFill>
              </a:rPr>
              <a:t>Stablecoins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973568" y="4690872"/>
            <a:ext cx="1737360" cy="786384"/>
          </a:xfrm>
          <a:prstGeom prst="roundRect">
            <a:avLst>
              <a:gd name="adj" fmla="val 9302"/>
            </a:avLst>
          </a:prstGeom>
          <a:solidFill>
            <a:srgbClr val="071B2E"/>
          </a:solidFill>
          <a:ln w="17780">
            <a:solidFill>
              <a:srgbClr val="8A5C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481888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7FF"/>
                </a:solidFill>
              </a:rPr>
              <a:t>Otras chains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67512" y="565099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F7C7"/>
                </a:solidFill>
              </a:rPr>
              <a:t>“Tú decides qué hacer. GatoPago decide cómo hacerlo.”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017520" y="65562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4CFE8"/>
                </a:solidFill>
              </a:rPr>
              <a:t>Infraestructura de pagos entre moneda local y blockchain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high_tech_neon_3d_isometric_isometric_pers_batch_4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F7C7"/>
                </a:solidFill>
              </a:rPr>
              <a:t>ARQUITECTURA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94360" y="65836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Payment Operating System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099048" y="2039112"/>
            <a:ext cx="0" cy="539496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6099048" y="3090672"/>
            <a:ext cx="0" cy="594360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6099048" y="4197096"/>
            <a:ext cx="0" cy="530352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099048" y="5239512"/>
            <a:ext cx="0" cy="411480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931920" y="1508760"/>
            <a:ext cx="4343400" cy="658368"/>
          </a:xfrm>
          <a:prstGeom prst="roundRect">
            <a:avLst>
              <a:gd name="adj" fmla="val 11111"/>
            </a:avLst>
          </a:prstGeom>
          <a:solidFill>
            <a:srgbClr val="08263A"/>
          </a:solidFill>
          <a:ln w="17780">
            <a:solidFill>
              <a:srgbClr val="26F7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05072" y="1636776"/>
            <a:ext cx="4197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7FF"/>
                </a:solidFill>
              </a:rPr>
              <a:t>Wallet · API · Dashboard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931920" y="2578608"/>
            <a:ext cx="4343400" cy="658368"/>
          </a:xfrm>
          <a:prstGeom prst="roundRect">
            <a:avLst>
              <a:gd name="adj" fmla="val 11111"/>
            </a:avLst>
          </a:prstGeom>
          <a:solidFill>
            <a:srgbClr val="08294A"/>
          </a:solidFill>
          <a:ln w="17780">
            <a:solidFill>
              <a:srgbClr val="3098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05072" y="2706624"/>
            <a:ext cx="4197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7FF"/>
                </a:solidFill>
              </a:rPr>
              <a:t>Payment Orchestrator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931920" y="3685032"/>
            <a:ext cx="4343400" cy="658368"/>
          </a:xfrm>
          <a:prstGeom prst="roundRect">
            <a:avLst>
              <a:gd name="adj" fmla="val 11111"/>
            </a:avLst>
          </a:prstGeom>
          <a:solidFill>
            <a:srgbClr val="171B4C"/>
          </a:solidFill>
          <a:ln w="17780">
            <a:solidFill>
              <a:srgbClr val="8A5C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05072" y="3813048"/>
            <a:ext cx="4197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7FF"/>
                </a:solidFill>
              </a:rPr>
              <a:t>FX · Routing · Liquidez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931920" y="4727448"/>
            <a:ext cx="4343400" cy="658368"/>
          </a:xfrm>
          <a:prstGeom prst="roundRect">
            <a:avLst>
              <a:gd name="adj" fmla="val 11111"/>
            </a:avLst>
          </a:prstGeom>
          <a:solidFill>
            <a:srgbClr val="063226"/>
          </a:solidFill>
          <a:ln w="17780">
            <a:solidFill>
              <a:srgbClr val="2EF2A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05072" y="4855464"/>
            <a:ext cx="4197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7FF"/>
                </a:solidFill>
              </a:rPr>
              <a:t>Risk · Compliance · Conciliación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584448" y="5650992"/>
            <a:ext cx="5047488" cy="530352"/>
          </a:xfrm>
          <a:prstGeom prst="roundRect">
            <a:avLst>
              <a:gd name="adj" fmla="val 13793"/>
            </a:avLst>
          </a:prstGeom>
          <a:solidFill>
            <a:srgbClr val="06172A"/>
          </a:solidFill>
          <a:ln w="17780">
            <a:solidFill>
              <a:srgbClr val="38D9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0" y="5779008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7FF"/>
                </a:solidFill>
              </a:rPr>
              <a:t>Avalanche · Base · Solana · PSP/Bancos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183880" y="713232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AF7FF"/>
                </a:solidFill>
              </a:rPr>
              <a:t>Modular · escalable · multichain · multicurrency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3017520" y="65562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4CFE8"/>
                </a:solidFill>
              </a:rPr>
              <a:t>Infraestructura de pagos entre moneda local y blockchain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F7C7"/>
                </a:solidFill>
              </a:rPr>
              <a:t>FLUJO OPERATIVO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pago local al settlement on-chain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71907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CFE8"/>
                </a:solidFill>
              </a:rPr>
              <a:t>Ejemplo: una empresa cobra en moneda local y liquida en USDC.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52144" y="3703320"/>
            <a:ext cx="1426464" cy="0"/>
          </a:xfrm>
          <a:prstGeom prst="line">
            <a:avLst/>
          </a:prstGeom>
          <a:solidFill>
            <a:srgbClr val="FFFFFF">
              <a:alpha val="0"/>
            </a:srgbClr>
          </a:solidFill>
          <a:ln w="3175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712464" y="3703320"/>
            <a:ext cx="1426464" cy="0"/>
          </a:xfrm>
          <a:prstGeom prst="line">
            <a:avLst/>
          </a:prstGeom>
          <a:solidFill>
            <a:srgbClr val="FFFFFF">
              <a:alpha val="0"/>
            </a:srgbClr>
          </a:solidFill>
          <a:ln w="31750">
            <a:solidFill>
              <a:srgbClr val="3098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291072" y="3703320"/>
            <a:ext cx="1453896" cy="0"/>
          </a:xfrm>
          <a:prstGeom prst="line">
            <a:avLst/>
          </a:prstGeom>
          <a:solidFill>
            <a:srgbClr val="FFFFFF">
              <a:alpha val="0"/>
            </a:srgbClr>
          </a:solidFill>
          <a:ln w="31750">
            <a:solidFill>
              <a:srgbClr val="8A5C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887968" y="3703320"/>
            <a:ext cx="1426464" cy="0"/>
          </a:xfrm>
          <a:prstGeom prst="line">
            <a:avLst/>
          </a:prstGeom>
          <a:solidFill>
            <a:srgbClr val="FFFFFF">
              <a:alpha val="0"/>
            </a:srgbClr>
          </a:solidFill>
          <a:ln w="31750">
            <a:solidFill>
              <a:srgbClr val="2EF2A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2920" y="3127248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071B2E"/>
          </a:solidFill>
          <a:ln w="17780">
            <a:solidFill>
              <a:srgbClr val="2EF2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3255264"/>
            <a:ext cx="11795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7FF"/>
                </a:solidFill>
              </a:rPr>
              <a:t>BOB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AF7FF"/>
                </a:solidFill>
              </a:rPr>
              <a:t>Pago local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42032" y="3127248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071B2E"/>
          </a:solidFill>
          <a:ln w="17780">
            <a:solidFill>
              <a:srgbClr val="38D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5184" y="3255264"/>
            <a:ext cx="11795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7FF"/>
                </a:solidFill>
              </a:rPr>
              <a:t>PSP / Banco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02352" y="3127248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071B2E"/>
          </a:solidFill>
          <a:ln w="17780">
            <a:solidFill>
              <a:srgbClr val="8A5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5504" y="3255264"/>
            <a:ext cx="11795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7FF"/>
                </a:solidFill>
              </a:rPr>
              <a:t>FX Engine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99248" y="3127248"/>
            <a:ext cx="1325880" cy="1143000"/>
          </a:xfrm>
          <a:prstGeom prst="roundRect">
            <a:avLst>
              <a:gd name="adj" fmla="val 6400"/>
            </a:avLst>
          </a:prstGeom>
          <a:solidFill>
            <a:srgbClr val="071B2E"/>
          </a:solidFill>
          <a:ln w="17780">
            <a:solidFill>
              <a:srgbClr val="309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3255264"/>
            <a:ext cx="11795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7FF"/>
                </a:solidFill>
              </a:rPr>
              <a:t>USDC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04120" y="3127248"/>
            <a:ext cx="1554480" cy="1143000"/>
          </a:xfrm>
          <a:prstGeom prst="roundRect">
            <a:avLst>
              <a:gd name="adj" fmla="val 6400"/>
            </a:avLst>
          </a:prstGeom>
          <a:solidFill>
            <a:srgbClr val="071B2E"/>
          </a:solidFill>
          <a:ln w="17780">
            <a:solidFill>
              <a:srgbClr val="26F7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77272" y="3255264"/>
            <a:ext cx="140817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AF7FF"/>
                </a:solidFill>
              </a:rPr>
              <a:t>Avalanche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EAF7FF"/>
                </a:solidFill>
              </a:rPr>
              <a:t>/ Chain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514600" y="5084064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7FF"/>
                </a:solidFill>
              </a:rPr>
              <a:t>Cotización bloqueada · fees visibles · tx trazable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017520" y="65562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4CFE8"/>
                </a:solidFill>
              </a:rPr>
              <a:t>Infraestructura de pagos entre moneda local y blockchain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sleek_futuristic_cyber_fintech_blockchain_conc_batch_5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F7C7"/>
                </a:solidFill>
              </a:rPr>
              <a:t>MODELO NON-CUSTODIAL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40080" y="74980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dinero vive en blockchain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67512" y="175564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CFE8"/>
                </a:solidFill>
              </a:rPr>
              <a:t>GatoPago no necesita “guardar” fondos para orquestar operaciones.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955280" y="1417320"/>
            <a:ext cx="3063240" cy="676656"/>
          </a:xfrm>
          <a:prstGeom prst="roundRect">
            <a:avLst>
              <a:gd name="adj" fmla="val 13514"/>
            </a:avLst>
          </a:prstGeom>
          <a:solidFill>
            <a:srgbClr val="06172A">
              <a:alpha val="91000"/>
            </a:srgbClr>
          </a:solidFill>
          <a:ln w="12700">
            <a:solidFill>
              <a:srgbClr val="26F7C7">
                <a:alpha val="7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65008" y="1554480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🔐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49056" y="1591056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AF7FF"/>
                </a:solidFill>
              </a:rPr>
              <a:t>Usuario mantiene control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955280" y="2304288"/>
            <a:ext cx="3063240" cy="676656"/>
          </a:xfrm>
          <a:prstGeom prst="roundRect">
            <a:avLst>
              <a:gd name="adj" fmla="val 13514"/>
            </a:avLst>
          </a:prstGeom>
          <a:solidFill>
            <a:srgbClr val="06172A">
              <a:alpha val="91000"/>
            </a:srgbClr>
          </a:solidFill>
          <a:ln w="12700">
            <a:solidFill>
              <a:srgbClr val="3098FF">
                <a:alpha val="7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65008" y="2441448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⚙️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449056" y="2478024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AF7FF"/>
                </a:solidFill>
              </a:rPr>
              <a:t>Permisos programables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955280" y="3191256"/>
            <a:ext cx="3063240" cy="676656"/>
          </a:xfrm>
          <a:prstGeom prst="roundRect">
            <a:avLst>
              <a:gd name="adj" fmla="val 13514"/>
            </a:avLst>
          </a:prstGeom>
          <a:solidFill>
            <a:srgbClr val="06172A">
              <a:alpha val="91000"/>
            </a:srgbClr>
          </a:solidFill>
          <a:ln w="12700">
            <a:solidFill>
              <a:srgbClr val="2EF2A4">
                <a:alpha val="7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65008" y="3328416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🧾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449056" y="3364992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AF7FF"/>
                </a:solidFill>
              </a:rPr>
              <a:t>Trazabilidad on-chain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955280" y="4078224"/>
            <a:ext cx="3063240" cy="676656"/>
          </a:xfrm>
          <a:prstGeom prst="roundRect">
            <a:avLst>
              <a:gd name="adj" fmla="val 13514"/>
            </a:avLst>
          </a:prstGeom>
          <a:solidFill>
            <a:srgbClr val="06172A">
              <a:alpha val="91000"/>
            </a:srgbClr>
          </a:solidFill>
          <a:ln w="12700">
            <a:solidFill>
              <a:srgbClr val="8A5CFF">
                <a:alpha val="7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65008" y="4215384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🛡️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449056" y="4251960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AF7FF"/>
                </a:solidFill>
              </a:rPr>
              <a:t>Menor exposición custodial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94944" y="53492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F7C7"/>
                </a:solidFill>
              </a:rPr>
              <a:t>La plataforma ejecuta bajo reglas, límites y autorizaciones.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3017520" y="65562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4CFE8"/>
                </a:solidFill>
              </a:rPr>
              <a:t>Infraestructura de pagos entre moneda local y blockchain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F7C7"/>
                </a:solidFill>
              </a:rPr>
              <a:t>PRODUCTOS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ecosistema sobre el mismo motor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9048" y="3749040"/>
            <a:ext cx="-4270248" cy="-123444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099048" y="3749040"/>
            <a:ext cx="-2304288" cy="-178308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99048" y="3749040"/>
            <a:ext cx="2267712" cy="-178308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99048" y="3749040"/>
            <a:ext cx="4187952" cy="-123444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99048" y="3749040"/>
            <a:ext cx="-3355848" cy="132588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99048" y="3749040"/>
            <a:ext cx="0" cy="178308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99048" y="3749040"/>
            <a:ext cx="3364992" cy="1325880"/>
          </a:xfrm>
          <a:prstGeom prst="line">
            <a:avLst/>
          </a:prstGeom>
          <a:solidFill>
            <a:srgbClr val="FFFFFF">
              <a:alpha val="0"/>
            </a:srgbClr>
          </a:solidFill>
          <a:ln w="1524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37760" y="30632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A2C39"/>
          </a:solidFill>
          <a:ln w="17780">
            <a:solidFill>
              <a:srgbClr val="26F7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3191256"/>
            <a:ext cx="21854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</a:rPr>
              <a:t>GatoPago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AF7FF"/>
                </a:solidFill>
              </a:rPr>
              <a:t>Core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7280" y="2084832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071B2E"/>
          </a:solidFill>
          <a:ln w="17780">
            <a:solidFill>
              <a:srgbClr val="2EF2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2212848"/>
            <a:ext cx="13167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7FF"/>
                </a:solidFill>
              </a:rPr>
              <a:t>Wallet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63240" y="1536192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071B2E"/>
          </a:solidFill>
          <a:ln w="17780">
            <a:solidFill>
              <a:srgbClr val="309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1664208"/>
            <a:ext cx="15453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Payments API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35240" y="1536192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71B2E"/>
          </a:solidFill>
          <a:ln w="17780">
            <a:solidFill>
              <a:srgbClr val="8A5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08392" y="1664208"/>
            <a:ext cx="16824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Dashboard B2B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738360" y="2084832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071B2E"/>
          </a:solidFill>
          <a:ln w="17780">
            <a:solidFill>
              <a:srgbClr val="38D9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11512" y="2212848"/>
            <a:ext cx="15910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Links de pago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103120" y="4681728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71B2E"/>
          </a:solidFill>
          <a:ln w="17780">
            <a:solidFill>
              <a:srgbClr val="FFB8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76272" y="4809744"/>
            <a:ext cx="12710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7FF"/>
                </a:solidFill>
              </a:rPr>
              <a:t>Payroll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257800" y="5102352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071B2E"/>
          </a:solidFill>
          <a:ln w="17780">
            <a:solidFill>
              <a:srgbClr val="26F7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0952" y="5230368"/>
            <a:ext cx="154533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Smart Wallet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732520" y="4681728"/>
            <a:ext cx="1508760" cy="868680"/>
          </a:xfrm>
          <a:prstGeom prst="roundRect">
            <a:avLst>
              <a:gd name="adj" fmla="val 8421"/>
            </a:avLst>
          </a:prstGeom>
          <a:solidFill>
            <a:srgbClr val="071B2E"/>
          </a:solidFill>
          <a:ln w="17780">
            <a:solidFill>
              <a:srgbClr val="2EF2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05672" y="4809744"/>
            <a:ext cx="13624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7FF"/>
                </a:solidFill>
              </a:rPr>
              <a:t>AI Agents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49040" y="61996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CFE8"/>
                </a:solidFill>
              </a:rPr>
              <a:t>B2B primero. B2C y Cards después.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017520" y="65562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4CFE8"/>
                </a:solidFill>
              </a:rPr>
              <a:t>Infraestructura de pagos entre moneda local y blockchain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3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F7C7"/>
                </a:solidFill>
              </a:rPr>
              <a:t>INNOVACIONES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motores que llaman la atención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0" y="3474720"/>
            <a:ext cx="3017520" cy="0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360920" y="3474720"/>
            <a:ext cx="3017520" cy="0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80760" y="2514600"/>
            <a:ext cx="0" cy="411480"/>
          </a:xfrm>
          <a:prstGeom prst="line">
            <a:avLst/>
          </a:prstGeom>
          <a:solidFill>
            <a:srgbClr val="FFFFFF">
              <a:alpha val="0"/>
            </a:srgbClr>
          </a:solidFill>
          <a:ln w="21590">
            <a:solidFill>
              <a:srgbClr val="3098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80760" y="4069080"/>
            <a:ext cx="0" cy="941832"/>
          </a:xfrm>
          <a:prstGeom prst="line">
            <a:avLst/>
          </a:prstGeom>
          <a:solidFill>
            <a:srgbClr val="FFFFFF">
              <a:alpha val="0"/>
            </a:srgbClr>
          </a:solidFill>
          <a:ln w="21590">
            <a:solidFill>
              <a:srgbClr val="2EF2A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13232" y="2944368"/>
            <a:ext cx="1645920" cy="1042416"/>
          </a:xfrm>
          <a:prstGeom prst="roundRect">
            <a:avLst>
              <a:gd name="adj" fmla="val 7018"/>
            </a:avLst>
          </a:prstGeom>
          <a:solidFill>
            <a:srgbClr val="071B2E"/>
          </a:solidFill>
          <a:ln w="17780">
            <a:solidFill>
              <a:srgbClr val="26F7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3072384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Intent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Payments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64608" y="2816352"/>
            <a:ext cx="2468880" cy="1298448"/>
          </a:xfrm>
          <a:prstGeom prst="roundRect">
            <a:avLst>
              <a:gd name="adj" fmla="val 5634"/>
            </a:avLst>
          </a:prstGeom>
          <a:solidFill>
            <a:srgbClr val="111343"/>
          </a:solidFill>
          <a:ln w="17780">
            <a:solidFill>
              <a:srgbClr val="8A5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944368"/>
            <a:ext cx="23225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F7FF"/>
                </a:solidFill>
              </a:rPr>
              <a:t>Smart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AF7FF"/>
                </a:solidFill>
              </a:rPr>
              <a:t>Routing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802368" y="2944368"/>
            <a:ext cx="1645920" cy="1042416"/>
          </a:xfrm>
          <a:prstGeom prst="roundRect">
            <a:avLst>
              <a:gd name="adj" fmla="val 7018"/>
            </a:avLst>
          </a:prstGeom>
          <a:solidFill>
            <a:srgbClr val="071B2E"/>
          </a:solidFill>
          <a:ln w="17780">
            <a:solidFill>
              <a:srgbClr val="2EF2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0" y="3072384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Best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Execution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57216" y="1691640"/>
            <a:ext cx="1874520" cy="777240"/>
          </a:xfrm>
          <a:prstGeom prst="roundRect">
            <a:avLst>
              <a:gd name="adj" fmla="val 9412"/>
            </a:avLst>
          </a:prstGeom>
          <a:solidFill>
            <a:srgbClr val="071B2E"/>
          </a:solidFill>
          <a:ln w="17780">
            <a:solidFill>
              <a:srgbClr val="309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0368" y="1819656"/>
            <a:ext cx="17282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FX + Rate Lock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507492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071B2E"/>
          </a:solidFill>
          <a:ln w="17780">
            <a:solidFill>
              <a:srgbClr val="2EF2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5202936"/>
            <a:ext cx="24597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Liquidity Marketplace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5010912"/>
            <a:ext cx="1920240" cy="676656"/>
          </a:xfrm>
          <a:prstGeom prst="roundRect">
            <a:avLst>
              <a:gd name="adj" fmla="val 13514"/>
            </a:avLst>
          </a:prstGeom>
          <a:solidFill>
            <a:srgbClr val="06172A">
              <a:alpha val="91000"/>
            </a:srgbClr>
          </a:solidFill>
          <a:ln w="12700">
            <a:solidFill>
              <a:srgbClr val="38D9FF">
                <a:alpha val="7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5148072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🧠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316736" y="5184648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AF7FF"/>
                </a:solidFill>
              </a:rPr>
              <a:t>AI Copilot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281160" y="5010912"/>
            <a:ext cx="2148840" cy="676656"/>
          </a:xfrm>
          <a:prstGeom prst="roundRect">
            <a:avLst>
              <a:gd name="adj" fmla="val 13514"/>
            </a:avLst>
          </a:prstGeom>
          <a:solidFill>
            <a:srgbClr val="06172A">
              <a:alpha val="91000"/>
            </a:srgbClr>
          </a:solidFill>
          <a:ln w="12700">
            <a:solidFill>
              <a:srgbClr val="FF4C64">
                <a:alpha val="7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90888" y="5148072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🔎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774936" y="518464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AF7FF"/>
                </a:solidFill>
              </a:rPr>
              <a:t>Risk Scoring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017520" y="65562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4CFE8"/>
                </a:solidFill>
              </a:rPr>
              <a:t>Infraestructura de pagos entre moneda local y blockchain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inematic_futuristic_tech_illustration_on_a_d_batch_6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486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F7C7"/>
                </a:solidFill>
              </a:rPr>
              <a:t>AI + SMART MONEY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58368" y="795528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Pagos operados por agentes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94944" y="177393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4CFE8"/>
                </a:solidFill>
              </a:rPr>
              <a:t>Agentes que cotizan, verifican, ejecutan y concilian bajo límites.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1188720" y="4617720"/>
            <a:ext cx="1901952" cy="0"/>
          </a:xfrm>
          <a:prstGeom prst="line">
            <a:avLst/>
          </a:prstGeom>
          <a:solidFill>
            <a:srgbClr val="FFFFFF">
              <a:alpha val="0"/>
            </a:srgbClr>
          </a:solidFill>
          <a:ln w="2413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4370832" y="4617720"/>
            <a:ext cx="1801368" cy="0"/>
          </a:xfrm>
          <a:prstGeom prst="line">
            <a:avLst/>
          </a:prstGeom>
          <a:solidFill>
            <a:srgbClr val="FFFFFF">
              <a:alpha val="0"/>
            </a:srgbClr>
          </a:solidFill>
          <a:ln w="2413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7452360" y="4617720"/>
            <a:ext cx="1837944" cy="0"/>
          </a:xfrm>
          <a:prstGeom prst="line">
            <a:avLst/>
          </a:prstGeom>
          <a:solidFill>
            <a:srgbClr val="FFFFFF">
              <a:alpha val="0"/>
            </a:srgbClr>
          </a:solidFill>
          <a:ln w="2413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94360" y="4224528"/>
            <a:ext cx="1143000" cy="777240"/>
          </a:xfrm>
          <a:prstGeom prst="roundRect">
            <a:avLst>
              <a:gd name="adj" fmla="val 9412"/>
            </a:avLst>
          </a:prstGeom>
          <a:solidFill>
            <a:srgbClr val="071B2E"/>
          </a:solidFill>
          <a:ln w="17780">
            <a:solidFill>
              <a:srgbClr val="26F7C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" y="4352544"/>
            <a:ext cx="99669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Cotiza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035808" y="4224528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071B2E"/>
          </a:solidFill>
          <a:ln w="17780">
            <a:solidFill>
              <a:srgbClr val="3098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0" y="4352544"/>
            <a:ext cx="12710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Evalúa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AF7FF"/>
                </a:solidFill>
              </a:rPr>
              <a:t>riesgo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4224528"/>
            <a:ext cx="1508760" cy="777240"/>
          </a:xfrm>
          <a:prstGeom prst="roundRect">
            <a:avLst>
              <a:gd name="adj" fmla="val 9412"/>
            </a:avLst>
          </a:prstGeom>
          <a:solidFill>
            <a:srgbClr val="071B2E"/>
          </a:solidFill>
          <a:ln w="17780">
            <a:solidFill>
              <a:srgbClr val="8A5C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4352544"/>
            <a:ext cx="13624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7FF"/>
                </a:solidFill>
              </a:rPr>
              <a:t>Solicita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AF7FF"/>
                </a:solidFill>
              </a:rPr>
              <a:t>aprobación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189720" y="4224528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071B2E"/>
          </a:solidFill>
          <a:ln w="17780">
            <a:solidFill>
              <a:srgbClr val="2EF2A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62872" y="4352544"/>
            <a:ext cx="149961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7FF"/>
                </a:solidFill>
              </a:rPr>
              <a:t>Ejecuta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AF7FF"/>
                </a:solidFill>
              </a:rPr>
              <a:t>concilia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76656" y="56967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F7C7"/>
                </a:solidFill>
              </a:rPr>
              <a:t>Copilot financiero · Payment Agent · Risk Agent · Reconciliation Agent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017520" y="65562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4CFE8"/>
                </a:solidFill>
              </a:rPr>
              <a:t>Infraestructura de pagos entre moneda local y blockchain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F7C7"/>
                </a:solidFill>
              </a:rPr>
              <a:t>VENTAJAS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que una wallet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1792" y="16916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4CFE8"/>
                </a:solidFill>
              </a:rPr>
              <a:t>La ventaja no está en “guardar cripto”; está en orquestar valor.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2633472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071B2E"/>
          </a:solidFill>
          <a:ln w="17780">
            <a:solidFill>
              <a:srgbClr val="26F7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761488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7FF"/>
                </a:solidFill>
              </a:rPr>
              <a:t>Sin apps externas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99232" y="2633472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071B2E"/>
          </a:solidFill>
          <a:ln w="17780">
            <a:solidFill>
              <a:srgbClr val="2EF2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2761488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7FF"/>
                </a:solidFill>
              </a:rPr>
              <a:t>Multimoneda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30368" y="2633472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071B2E"/>
          </a:solidFill>
          <a:ln w="17780">
            <a:solidFill>
              <a:srgbClr val="309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2761488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7FF"/>
                </a:solidFill>
              </a:rPr>
              <a:t>Multichain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52360" y="2633472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071B2E"/>
          </a:solidFill>
          <a:ln w="17780">
            <a:solidFill>
              <a:srgbClr val="8A5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25512" y="2761488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7FF"/>
                </a:solidFill>
              </a:rPr>
              <a:t>Non-custodial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74352" y="2633472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071B2E"/>
          </a:solidFill>
          <a:ln w="17780">
            <a:solidFill>
              <a:srgbClr val="38D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47504" y="2761488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7FF"/>
                </a:solidFill>
              </a:rPr>
              <a:t>B2B + B2C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05840" y="4480560"/>
            <a:ext cx="10195560" cy="868680"/>
          </a:xfrm>
          <a:prstGeom prst="roundRect">
            <a:avLst>
              <a:gd name="adj" fmla="val 8421"/>
            </a:avLst>
          </a:prstGeom>
          <a:solidFill>
            <a:srgbClr val="061C2F"/>
          </a:solidFill>
          <a:ln w="15240">
            <a:solidFill>
              <a:srgbClr val="26F7C7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736592"/>
            <a:ext cx="9921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API. Any currency. Any chain.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3017520" y="65562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4CFE8"/>
                </a:solidFill>
              </a:rPr>
              <a:t>Infraestructura de pagos entre moneda local y blockchain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topago_dinero_sin_fronteras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5486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F7C7"/>
                </a:solidFill>
              </a:rPr>
              <a:t>DESCENTRALIZACIÓN DEL DINERO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58368" y="795528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Fondos en blockchain. Control del usuario.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94944" y="1874520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AF7FF"/>
                </a:solidFill>
              </a:rPr>
              <a:t>GatoPago se ubica como una capa de ejecución: conecta moneda local, stablecoins, blockchains y proveedores, sin ocultar la trazabilidad.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26680" y="1508760"/>
            <a:ext cx="2743200" cy="676656"/>
          </a:xfrm>
          <a:prstGeom prst="roundRect">
            <a:avLst>
              <a:gd name="adj" fmla="val 13514"/>
            </a:avLst>
          </a:prstGeom>
          <a:solidFill>
            <a:srgbClr val="06172A">
              <a:alpha val="91000"/>
            </a:srgbClr>
          </a:solidFill>
          <a:ln w="12700">
            <a:solidFill>
              <a:srgbClr val="26F7C7">
                <a:alpha val="7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36408" y="1645920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🧱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0456" y="168249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AF7FF"/>
                </a:solidFill>
              </a:rPr>
              <a:t>Fondos on-chain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26680" y="2423160"/>
            <a:ext cx="2743200" cy="676656"/>
          </a:xfrm>
          <a:prstGeom prst="roundRect">
            <a:avLst>
              <a:gd name="adj" fmla="val 13514"/>
            </a:avLst>
          </a:prstGeom>
          <a:solidFill>
            <a:srgbClr val="06172A">
              <a:alpha val="91000"/>
            </a:srgbClr>
          </a:solidFill>
          <a:ln w="12700">
            <a:solidFill>
              <a:srgbClr val="2EF2A4">
                <a:alpha val="7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36408" y="2560320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👤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0456" y="259689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AF7FF"/>
                </a:solidFill>
              </a:rPr>
              <a:t>Control del usuario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726680" y="3337560"/>
            <a:ext cx="2743200" cy="676656"/>
          </a:xfrm>
          <a:prstGeom prst="roundRect">
            <a:avLst>
              <a:gd name="adj" fmla="val 13514"/>
            </a:avLst>
          </a:prstGeom>
          <a:solidFill>
            <a:srgbClr val="06172A">
              <a:alpha val="91000"/>
            </a:srgbClr>
          </a:solidFill>
          <a:ln w="12700">
            <a:solidFill>
              <a:srgbClr val="3098FF">
                <a:alpha val="7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36408" y="3474720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🔍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220456" y="351129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AF7FF"/>
                </a:solidFill>
              </a:rPr>
              <a:t>Operación trazable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726680" y="4251960"/>
            <a:ext cx="2743200" cy="676656"/>
          </a:xfrm>
          <a:prstGeom prst="roundRect">
            <a:avLst>
              <a:gd name="adj" fmla="val 13514"/>
            </a:avLst>
          </a:prstGeom>
          <a:solidFill>
            <a:srgbClr val="06172A">
              <a:alpha val="91000"/>
            </a:srgbClr>
          </a:solidFill>
          <a:ln w="12700">
            <a:solidFill>
              <a:srgbClr val="8A5CFF">
                <a:alpha val="7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36408" y="4389120"/>
            <a:ext cx="338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🌎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220456" y="4425696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EAF7FF"/>
                </a:solidFill>
              </a:rPr>
              <a:t>Dinero sin fronteras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017520" y="65562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4CFE8"/>
                </a:solidFill>
              </a:rPr>
              <a:t>Infraestructura de pagos entre moneda local y blockchain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F7C7"/>
                </a:solidFill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MVP a infraestructura global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1560" y="3712464"/>
            <a:ext cx="18288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730752" y="3712464"/>
            <a:ext cx="18288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419088" y="3712464"/>
            <a:ext cx="18288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098280" y="3712464"/>
            <a:ext cx="1828800" cy="0"/>
          </a:xfrm>
          <a:prstGeom prst="line">
            <a:avLst/>
          </a:prstGeom>
          <a:solidFill>
            <a:srgbClr val="FFFFFF">
              <a:alpha val="0"/>
            </a:srgbClr>
          </a:solidFill>
          <a:ln w="25400">
            <a:solidFill>
              <a:srgbClr val="26F7C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1480" y="2999232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071B2E"/>
          </a:solidFill>
          <a:ln w="17780">
            <a:solidFill>
              <a:srgbClr val="2EF2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3127248"/>
            <a:ext cx="127101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7FF"/>
                </a:solidFill>
              </a:rPr>
              <a:t>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7FF"/>
                </a:solidFill>
              </a:rPr>
              <a:t>MVP B2B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7FF"/>
                </a:solidFill>
              </a:rPr>
              <a:t>BOB + USDC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0" y="2999232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071B2E"/>
          </a:solidFill>
          <a:ln w="17780">
            <a:solidFill>
              <a:srgbClr val="309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3127248"/>
            <a:ext cx="127101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7FF"/>
                </a:solidFill>
              </a:rPr>
              <a:t>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7FF"/>
                </a:solidFill>
              </a:rPr>
              <a:t>Multichain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7FF"/>
                </a:solidFill>
              </a:rPr>
              <a:t>Routing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40680" y="2999232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071B2E"/>
          </a:solidFill>
          <a:ln w="17780">
            <a:solidFill>
              <a:srgbClr val="8A5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13832" y="3127248"/>
            <a:ext cx="127101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7FF"/>
                </a:solidFill>
              </a:rPr>
              <a:t>3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7FF"/>
                </a:solidFill>
              </a:rPr>
              <a:t>Corporate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7FF"/>
                </a:solidFill>
              </a:rPr>
              <a:t>Wallet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2999232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071B2E"/>
          </a:solidFill>
          <a:ln w="17780">
            <a:solidFill>
              <a:srgbClr val="26F7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5592" y="3127248"/>
            <a:ext cx="127101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7FF"/>
                </a:solidFill>
              </a:rPr>
              <a:t>4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7FF"/>
                </a:solidFill>
              </a:rPr>
              <a:t>AI Agents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7FF"/>
                </a:solidFill>
              </a:rPr>
              <a:t>Treasury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287000" y="2999232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071B2E"/>
          </a:solidFill>
          <a:ln w="17780">
            <a:solidFill>
              <a:srgbClr val="FFB8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60152" y="3127248"/>
            <a:ext cx="127101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7FF"/>
                </a:solidFill>
              </a:rPr>
              <a:t>5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7FF"/>
                </a:solidFill>
              </a:rPr>
              <a:t>Cards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AF7FF"/>
                </a:solidFill>
              </a:rPr>
              <a:t>Global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40864" y="521208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7FF"/>
                </a:solidFill>
              </a:rPr>
              <a:t>Construir el motor primero. Luego escalar productos encima.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017520" y="65562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4CFE8"/>
                </a:solidFill>
              </a:rPr>
              <a:t>Infraestructura de pagos entre moneda local y blockchain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futuristic_high_tech_digital_illustration_batch_1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" y="384048"/>
            <a:ext cx="5669280" cy="5486400"/>
          </a:xfrm>
          <a:prstGeom prst="roundRect">
            <a:avLst>
              <a:gd name="adj" fmla="val 833"/>
            </a:avLst>
          </a:prstGeom>
          <a:solidFill>
            <a:srgbClr val="030814">
              <a:alpha val="97000"/>
            </a:srgbClr>
          </a:solidFill>
          <a:ln w="6350">
            <a:solidFill>
              <a:srgbClr val="26F7C7">
                <a:alpha val="2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13232" y="603504"/>
            <a:ext cx="555498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5" dirty="0">
                <a:solidFill>
                  <a:srgbClr val="000000"/>
                </a:solidFill>
              </a:rPr>
              <a:t>🐱</a:t>
            </a:r>
            <a:endParaRPr lang="en-US" sz="3105" dirty="0"/>
          </a:p>
        </p:txBody>
      </p:sp>
      <p:sp>
        <p:nvSpPr>
          <p:cNvPr id="5" name="Text 2"/>
          <p:cNvSpPr/>
          <p:nvPr/>
        </p:nvSpPr>
        <p:spPr>
          <a:xfrm>
            <a:off x="1355141" y="621792"/>
            <a:ext cx="3332988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4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Gato</a:t>
            </a:r>
            <a:pPr indent="0" marL="0">
              <a:buNone/>
            </a:pPr>
            <a:r>
              <a:rPr lang="en-US" sz="3240" b="1" dirty="0">
                <a:solidFill>
                  <a:srgbClr val="26F7C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Pago</a:t>
            </a:r>
            <a:endParaRPr lang="en-US" sz="3240" dirty="0"/>
          </a:p>
        </p:txBody>
      </p:sp>
      <p:sp>
        <p:nvSpPr>
          <p:cNvPr id="6" name="Text 3"/>
          <p:cNvSpPr/>
          <p:nvPr/>
        </p:nvSpPr>
        <p:spPr>
          <a:xfrm>
            <a:off x="749808" y="182880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tener cripto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AF7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poder usarla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68096" y="3154680"/>
            <a:ext cx="4800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CFE8"/>
                </a:solidFill>
              </a:rPr>
              <a:t>GatoPago convierte la complejidad blockchain en una experiencia simple de pago.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4160520"/>
            <a:ext cx="3337560" cy="310896"/>
          </a:xfrm>
          <a:prstGeom prst="roundRect">
            <a:avLst>
              <a:gd name="adj" fmla="val 20588"/>
            </a:avLst>
          </a:prstGeom>
          <a:solidFill>
            <a:srgbClr val="26F7C7">
              <a:alpha val="28000"/>
            </a:srgbClr>
          </a:solidFill>
          <a:ln w="12700">
            <a:solidFill>
              <a:srgbClr val="26F7C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4224528"/>
            <a:ext cx="3191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AF7FF"/>
                </a:solidFill>
              </a:rPr>
              <a:t>PAGAR · COBRAR · CONVERTIR · TRANSFERIR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777240" y="4956048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F7C7"/>
                </a:solidFill>
              </a:rPr>
              <a:t>Dinero local + stablecoins + múltiples chains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6F7C7"/>
                </a:solidFill>
              </a:rPr>
              <a:t>en una sola capa de ejecución.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017520" y="65562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4CFE8"/>
                </a:solidFill>
              </a:rPr>
              <a:t>Infraestructura de pagos entre moneda local y blockchain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D4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GatoPago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GatoPago — Usa cripto como dinero local</dc:title>
  <dc:subject>Pitch deck GatoPago</dc:subject>
  <dc:creator>OpenAI</dc:creator>
  <cp:lastModifiedBy>OpenAI</cp:lastModifiedBy>
  <cp:revision>1</cp:revision>
  <dcterms:created xsi:type="dcterms:W3CDTF">2026-09-16T00:01:04Z</dcterms:created>
  <dcterms:modified xsi:type="dcterms:W3CDTF">2026-09-16T00:01:04Z</dcterms:modified>
</cp:coreProperties>
</file>