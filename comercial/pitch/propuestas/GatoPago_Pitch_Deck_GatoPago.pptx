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GatoPago Deck Text" pitchFamily="34" charset="0"/>
      <p:regular r:id="rIdGPFontText"/>
    </p:embeddedFont>
    <p:embeddedFont>
      <p:font typeface="GatoPago Deck Display" pitchFamily="34" charset="0"/>
      <p:regular r:id="rIdGPFontDisplay"/>
    </p:embeddedFont>
    <p:embeddedFont>
      <p:font typeface="GatoPago Deck Brand" pitchFamily="34" charset="0"/>
      <p:regular r:id="rIdGPFontBrand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GPFontText" Type="http://schemas.openxmlformats.org/officeDocument/2006/relationships/font" Target="fonts/GatoPagoDeckText.fntdata"/><Relationship Id="rIdGPFontDisplay" Type="http://schemas.openxmlformats.org/officeDocument/2006/relationships/font" Target="fonts/GatoPagoDeckDisplay.fntdata"/><Relationship Id="rIdGPFontBrand" Type="http://schemas.openxmlformats.org/officeDocument/2006/relationships/font" Target="fonts/GatoPagoDeckBrand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6350">
            <a:solidFill>
              <a:srgbClr val="163A51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B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GatoPago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886968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4B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cripto como dinero local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toPago Deck Tex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toPago Deck Tex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toPago Deck Tex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toPago Deck Tex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GatoPago Deck Tex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GatoPago Deck Tex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GP0" Type="http://schemas.openxmlformats.org/officeDocument/2006/relationships/image" Target="../media/gp-gatopago.png"/><Relationship Id="rIdGP1" Type="http://schemas.openxmlformats.org/officeDocument/2006/relationships/image" Target="../media/gp-pose-sentado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GP0" Type="http://schemas.openxmlformats.org/officeDocument/2006/relationships/image" Target="../media/gp-pose-mensajero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GP0" Type="http://schemas.openxmlformats.org/officeDocument/2006/relationships/image" Target="../media/gp-pose-carrito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Relationship Id="rIdGP0" Type="http://schemas.openxmlformats.org/officeDocument/2006/relationships/image" Target="../media/gp-gatopago.png"/><Relationship Id="rIdGP1" Type="http://schemas.openxmlformats.org/officeDocument/2006/relationships/image" Target="../media/gp-expresion-content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ímbolo oficial de GatoPago" descr="Símbolo oficial de GatoPago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800100" y="571500"/>
            <a:ext cx="571500" cy="438150"/>
          </a:xfrm>
          <a:prstGeom prst="rect">
            <a:avLst/>
          </a:prstGeom>
          <a:ln>
            <a:noFill/>
          </a:ln>
        </p:spPr>
      </p:pic>
      <p:sp>
        <p:nvSpPr>
          <p:cNvPr id="3" name="Text 3: GatoPago"/>
          <p:cNvSpPr txBox="1"/>
          <p:nvPr/>
        </p:nvSpPr>
        <p:spPr>
          <a:xfrm>
            <a:off x="1562100" y="590550"/>
            <a:ext cx="3143250" cy="4903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buNone/>
              <a:def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2700" lang="es-BO" b="0" i="0" kern="1200">
              <a:solidFill>
                <a:srgbClr val="0B0B0F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4" name="Text 4: Usa cripto como dinero local"/>
          <p:cNvSpPr txBox="1"/>
          <p:nvPr/>
        </p:nvSpPr>
        <p:spPr>
          <a:xfrm>
            <a:off x="762000" y="1762125"/>
            <a:ext cx="8382000" cy="17522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075"/>
              </a:lnSpc>
              <a:spcBef>
                <a:spcPts val="0"/>
              </a:spcBef>
              <a:spcAft>
                <a:spcPts val="0"/>
              </a:spcAft>
              <a:buNone/>
              <a:def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Usa cripto</a:t>
            </a:r>
            <a:endParaRPr sz="5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6075"/>
              </a:lnSpc>
              <a:spcBef>
                <a:spcPts val="0"/>
              </a:spcBef>
              <a:spcAft>
                <a:spcPts val="0"/>
              </a:spcAft>
              <a:buNone/>
              <a:def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como dinero local</a:t>
            </a:r>
            <a:endParaRPr sz="5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5" name="Text 5: Una capa universal para pagar, cobrar, convertir y tran"/>
          <p:cNvSpPr txBox="1"/>
          <p:nvPr/>
        </p:nvSpPr>
        <p:spPr>
          <a:xfrm>
            <a:off x="800100" y="3629025"/>
            <a:ext cx="6572250" cy="724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Una capa universal para pagar, cobrar, convertir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y transferir entre moneda local y blockchain.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Tú decides qué hacer. GatoPago decide cómo hacerlo."/>
          <p:cNvSpPr txBox="1"/>
          <p:nvPr/>
        </p:nvSpPr>
        <p:spPr>
          <a:xfrm>
            <a:off x="800100" y="5076825"/>
            <a:ext cx="7572375" cy="7474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Tú decides qué hacer.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GatoPago decide cómo hacerlo.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Payin, payout, wallet, multichain e IA"/>
          <p:cNvSpPr txBox="1"/>
          <p:nvPr/>
        </p:nvSpPr>
        <p:spPr>
          <a:xfrm>
            <a:off x="800100" y="5943600"/>
            <a:ext cx="8096250" cy="27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  <a:defRPr sz="150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50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Payin, payout, wallet, multichain e IA</a:t>
            </a:r>
            <a:endParaRPr sz="150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Infraestructura de pagos entre moneda local y blockchai"/>
          <p:cNvSpPr txBox="1"/>
          <p:nvPr/>
        </p:nvSpPr>
        <p:spPr>
          <a:xfrm>
            <a:off x="800100" y="6419850"/>
            <a:ext cx="89535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Infraestructura de pagos entre moneda local y blockchain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pic>
        <p:nvPicPr>
          <p:cNvPr id="9" name="El gato de GatoPago, sentado" descr="El gato de GatoPago, sentado"/>
          <p:cNvPicPr>
            <a:picLocks noChangeAspect="1"/>
          </p:cNvPicPr>
          <p:nvPr/>
        </p:nvPicPr>
        <p:blipFill>
          <a:blip r:embed="rIdGP1" cstate="print"/>
          <a:stretch>
            <a:fillRect/>
          </a:stretch>
        </p:blipFill>
        <p:spPr>
          <a:xfrm>
            <a:off x="9286875" y="2143125"/>
            <a:ext cx="2057400" cy="3009900"/>
          </a:xfrm>
          <a:prstGeom prst="rect">
            <a:avLst/>
          </a:prstGeom>
          <a:ln>
            <a:noFill/>
          </a:ln>
        </p:spPr>
      </p:pic>
      <p:sp>
        <p:nvSpPr>
          <p:cNvPr id="10" name="Text 10: 1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ditable diagram connection 10"/>
          <p:cNvCxnSpPr/>
          <p:nvPr/>
        </p:nvCxnSpPr>
        <p:spPr>
          <a:xfrm>
            <a:off x="800100" y="4095750"/>
            <a:ext cx="1053465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sp>
        <p:nvSpPr>
          <p:cNvPr id="2" name="Text 2: PROBLEMA REAL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PROBLEMA REAL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Cripto no se usa con naturalidad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Cripto no se usa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 naturalidad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El valor está en blockchain, pero la experiencia sigue "/>
          <p:cNvSpPr txBox="1"/>
          <p:nvPr/>
        </p:nvSpPr>
        <p:spPr>
          <a:xfrm>
            <a:off x="800100" y="2447925"/>
            <a:ext cx="10334625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El valor está en blockchain, pero la experiencia sigue fragmentada.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Exchange"/>
          <p:cNvSpPr txBox="1"/>
          <p:nvPr/>
        </p:nvSpPr>
        <p:spPr>
          <a:xfrm>
            <a:off x="800100" y="3533775"/>
            <a:ext cx="1952625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Exchange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Wallet"/>
          <p:cNvSpPr txBox="1"/>
          <p:nvPr/>
        </p:nvSpPr>
        <p:spPr>
          <a:xfrm>
            <a:off x="3190875" y="3533775"/>
            <a:ext cx="1619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Wallet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Red"/>
          <p:cNvSpPr txBox="1"/>
          <p:nvPr/>
        </p:nvSpPr>
        <p:spPr>
          <a:xfrm>
            <a:off x="5448300" y="3533775"/>
            <a:ext cx="114300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Red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Conversión"/>
          <p:cNvSpPr txBox="1"/>
          <p:nvPr/>
        </p:nvSpPr>
        <p:spPr>
          <a:xfrm>
            <a:off x="7286625" y="3533775"/>
            <a:ext cx="21907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Conversión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Pago"/>
          <p:cNvSpPr txBox="1"/>
          <p:nvPr/>
        </p:nvSpPr>
        <p:spPr>
          <a:xfrm>
            <a:off x="10144125" y="3533775"/>
            <a:ext cx="1190625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Pago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Múltiples apps"/>
          <p:cNvSpPr txBox="1"/>
          <p:nvPr/>
        </p:nvSpPr>
        <p:spPr>
          <a:xfrm>
            <a:off x="800100" y="4410075"/>
            <a:ext cx="209550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Múltiples apps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Redes complejas"/>
          <p:cNvSpPr txBox="1"/>
          <p:nvPr/>
        </p:nvSpPr>
        <p:spPr>
          <a:xfrm>
            <a:off x="4781550" y="4410075"/>
            <a:ext cx="230505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Redes complejas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Conversión manual"/>
          <p:cNvSpPr txBox="1"/>
          <p:nvPr/>
        </p:nvSpPr>
        <p:spPr>
          <a:xfrm>
            <a:off x="7286625" y="4410075"/>
            <a:ext cx="2352675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Conversión manual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4" name="Text 14: Poco uso local"/>
          <p:cNvSpPr txBox="1"/>
          <p:nvPr/>
        </p:nvSpPr>
        <p:spPr>
          <a:xfrm>
            <a:off x="9906000" y="4410075"/>
            <a:ext cx="1504950" cy="6453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Poco uso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local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5" name="Text 15: Demasiados pasos para una acción simple."/>
          <p:cNvSpPr txBox="1"/>
          <p:nvPr/>
        </p:nvSpPr>
        <p:spPr>
          <a:xfrm>
            <a:off x="800100" y="5581650"/>
            <a:ext cx="990600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Demasiados pasos para una acción simple.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6" name="Text 16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7" name="Text 17: 2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3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Editable diagram connection 13"/>
          <p:cNvCxnSpPr/>
          <p:nvPr/>
        </p:nvCxnSpPr>
        <p:spPr>
          <a:xfrm>
            <a:off x="4019550" y="3800475"/>
            <a:ext cx="43815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4" name="Editable diagram connection 14"/>
          <p:cNvCxnSpPr/>
          <p:nvPr/>
        </p:nvCxnSpPr>
        <p:spPr>
          <a:xfrm>
            <a:off x="6705600" y="3800475"/>
            <a:ext cx="4953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5" name="Editable diagram connection 15"/>
          <p:cNvCxnSpPr/>
          <p:nvPr/>
        </p:nvCxnSpPr>
        <p:spPr>
          <a:xfrm>
            <a:off x="9553575" y="3800475"/>
            <a:ext cx="43815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INSIGHT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INSIGHT</a:t>
            </a:r>
            <a:endParaRPr sz="120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La blockchain debe desaparecer de la experiencia"/>
          <p:cNvSpPr txBox="1"/>
          <p:nvPr/>
        </p:nvSpPr>
        <p:spPr>
          <a:xfrm>
            <a:off x="762000" y="838200"/>
            <a:ext cx="10525125" cy="1414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La blockchain debe desaparecer</a:t>
            </a:r>
            <a:endParaRPr sz="43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de la experiencia</a:t>
            </a:r>
            <a:endParaRPr sz="43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El usuario no quiere elegir red. Quiere pagar."/>
          <p:cNvSpPr txBox="1"/>
          <p:nvPr/>
        </p:nvSpPr>
        <p:spPr>
          <a:xfrm>
            <a:off x="800100" y="2352675"/>
            <a:ext cx="104775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El usuario no quiere elegir red. Quiere pagar.</a:t>
            </a:r>
            <a:endParaRPr sz="217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Intención"/>
          <p:cNvSpPr txBox="1"/>
          <p:nvPr/>
        </p:nvSpPr>
        <p:spPr>
          <a:xfrm>
            <a:off x="800100" y="3076575"/>
            <a:ext cx="3238500" cy="2587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824"/>
              </a:lnSpc>
              <a:spcBef>
                <a:spcPts val="0"/>
              </a:spcBef>
              <a:spcAft>
                <a:spcPts val="0"/>
              </a:spcAft>
              <a:buNone/>
              <a:defRPr sz="142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42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Intención</a:t>
            </a:r>
            <a:endParaRPr sz="1425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“pagar Bs 500”"/>
          <p:cNvSpPr txBox="1"/>
          <p:nvPr/>
        </p:nvSpPr>
        <p:spPr>
          <a:xfrm>
            <a:off x="762000" y="3467100"/>
            <a:ext cx="3429000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032"/>
              </a:lnSpc>
              <a:spcBef>
                <a:spcPts val="0"/>
              </a:spcBef>
              <a:spcAft>
                <a:spcPts val="0"/>
              </a:spcAft>
              <a:buNone/>
              <a:defRPr sz="315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315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“pagar Bs 500”</a:t>
            </a:r>
            <a:endParaRPr sz="315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GatoPago"/>
          <p:cNvSpPr txBox="1"/>
          <p:nvPr/>
        </p:nvSpPr>
        <p:spPr>
          <a:xfrm>
            <a:off x="4610100" y="3476625"/>
            <a:ext cx="2028825" cy="4358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72"/>
              </a:lnSpc>
              <a:spcBef>
                <a:spcPts val="0"/>
              </a:spcBef>
              <a:spcAft>
                <a:spcPts val="0"/>
              </a:spcAft>
              <a:buNone/>
              <a:defRPr sz="240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40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2400" lang="es-BO" b="0" i="0" kern="1200">
              <a:solidFill>
                <a:srgbClr val="F85239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8" name="Text 8: rutea"/>
          <p:cNvSpPr txBox="1"/>
          <p:nvPr/>
        </p:nvSpPr>
        <p:spPr>
          <a:xfrm>
            <a:off x="4610100" y="3933825"/>
            <a:ext cx="198120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rutea</a:t>
            </a:r>
            <a:endParaRPr sz="1875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9" name="Text 9: Blockchain"/>
          <p:cNvSpPr txBox="1"/>
          <p:nvPr/>
        </p:nvSpPr>
        <p:spPr>
          <a:xfrm>
            <a:off x="7400925" y="3495675"/>
            <a:ext cx="207645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Blockchain</a:t>
            </a:r>
            <a:endParaRPr sz="20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0" name="Text 10: + liquidez"/>
          <p:cNvSpPr txBox="1"/>
          <p:nvPr/>
        </p:nvSpPr>
        <p:spPr>
          <a:xfrm>
            <a:off x="7400925" y="3933825"/>
            <a:ext cx="2028825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+ liquidez</a:t>
            </a:r>
            <a:endParaRPr sz="1875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1" name="Text 11: Destino"/>
          <p:cNvSpPr txBox="1"/>
          <p:nvPr/>
        </p:nvSpPr>
        <p:spPr>
          <a:xfrm>
            <a:off x="10144125" y="3495675"/>
            <a:ext cx="135255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Destino</a:t>
            </a:r>
            <a:endParaRPr sz="20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moneda local"/>
          <p:cNvSpPr txBox="1"/>
          <p:nvPr/>
        </p:nvSpPr>
        <p:spPr>
          <a:xfrm>
            <a:off x="10144125" y="3933825"/>
            <a:ext cx="1333500" cy="612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moneda</a:t>
            </a:r>
            <a:endParaRPr sz="180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local</a:t>
            </a:r>
            <a:endParaRPr sz="180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El usuario expresa el resultado. La plataforma resuelve"/>
          <p:cNvSpPr txBox="1"/>
          <p:nvPr/>
        </p:nvSpPr>
        <p:spPr>
          <a:xfrm>
            <a:off x="800100" y="5105400"/>
            <a:ext cx="1038225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El usuario expresa el resultado.</a:t>
            </a:r>
            <a:endParaRPr sz="23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La plataforma resuelve el camino.</a:t>
            </a:r>
            <a:endParaRPr sz="23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Intent-based payments"/>
          <p:cNvSpPr txBox="1"/>
          <p:nvPr/>
        </p:nvSpPr>
        <p:spPr>
          <a:xfrm>
            <a:off x="800100" y="6019800"/>
            <a:ext cx="6667500" cy="27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  <a:defRPr sz="150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50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Intent-based payments</a:t>
            </a:r>
            <a:endParaRPr sz="150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C9BFB5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3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05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Editable diagram connection 8"/>
          <p:cNvCxnSpPr/>
          <p:nvPr/>
        </p:nvCxnSpPr>
        <p:spPr>
          <a:xfrm>
            <a:off x="2781300" y="4095750"/>
            <a:ext cx="1219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9" name="Editable diagram connection 9"/>
          <p:cNvCxnSpPr/>
          <p:nvPr/>
        </p:nvCxnSpPr>
        <p:spPr>
          <a:xfrm>
            <a:off x="6800850" y="4095750"/>
            <a:ext cx="7620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7562850" y="3438525"/>
            <a:ext cx="0" cy="1466850"/>
          </a:xfrm>
          <a:prstGeom prst="line">
            <a:avLst/>
          </a:prstGeom>
          <a:ln w="22860">
            <a:solidFill>
              <a:srgbClr val="F85239"/>
            </a:solidFill>
            <a:prstDash val="solid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7562850" y="3457575"/>
            <a:ext cx="457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3" name="Editable diagram connection 13"/>
          <p:cNvCxnSpPr/>
          <p:nvPr/>
        </p:nvCxnSpPr>
        <p:spPr>
          <a:xfrm>
            <a:off x="7562850" y="4191000"/>
            <a:ext cx="457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5" name="Editable diagram connection 15"/>
          <p:cNvCxnSpPr/>
          <p:nvPr/>
        </p:nvCxnSpPr>
        <p:spPr>
          <a:xfrm>
            <a:off x="7562850" y="4924425"/>
            <a:ext cx="45720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SOLUCIÓN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SOLUCIÓN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GatoPago abstrae el ruteo completo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GatoPago abstrae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el ruteo completo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Una sola experiencia para pagar, cobrar, convertir y tr"/>
          <p:cNvSpPr txBox="1"/>
          <p:nvPr/>
        </p:nvSpPr>
        <p:spPr>
          <a:xfrm>
            <a:off x="800100" y="2409825"/>
            <a:ext cx="9906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Una sola experiencia para pagar, cobrar, convertir y transferir.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Usuario / Empresa"/>
          <p:cNvSpPr txBox="1"/>
          <p:nvPr/>
        </p:nvSpPr>
        <p:spPr>
          <a:xfrm>
            <a:off x="800100" y="3676650"/>
            <a:ext cx="2095500" cy="8359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Usuario /</a:t>
            </a:r>
            <a:endParaRPr sz="2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Empresa</a:t>
            </a:r>
            <a:endParaRPr sz="24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GatoPago"/>
          <p:cNvSpPr txBox="1"/>
          <p:nvPr/>
        </p:nvSpPr>
        <p:spPr>
          <a:xfrm>
            <a:off x="4295775" y="3762375"/>
            <a:ext cx="2571750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032"/>
              </a:lnSpc>
              <a:spcBef>
                <a:spcPts val="0"/>
              </a:spcBef>
              <a:spcAft>
                <a:spcPts val="0"/>
              </a:spcAft>
              <a:buNone/>
              <a:defRPr sz="315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3150" lang="es-BO" b="0" i="0" kern="1200">
                <a:solidFill>
                  <a:srgbClr val="F85239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3150" lang="es-BO" b="0" i="0" kern="1200">
              <a:solidFill>
                <a:srgbClr val="F85239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7" name="Text 7: Orquestación"/>
          <p:cNvSpPr txBox="1"/>
          <p:nvPr/>
        </p:nvSpPr>
        <p:spPr>
          <a:xfrm>
            <a:off x="4295775" y="4333875"/>
            <a:ext cx="2619375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Orquestación</a:t>
            </a:r>
            <a:endParaRPr sz="202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Moneda local"/>
          <p:cNvSpPr txBox="1"/>
          <p:nvPr/>
        </p:nvSpPr>
        <p:spPr>
          <a:xfrm>
            <a:off x="8267700" y="3276600"/>
            <a:ext cx="3143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Moneda local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Stablecoins"/>
          <p:cNvSpPr txBox="1"/>
          <p:nvPr/>
        </p:nvSpPr>
        <p:spPr>
          <a:xfrm>
            <a:off x="8267700" y="4010025"/>
            <a:ext cx="3143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Stablecoins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6" name="Text 16: Otras chains"/>
          <p:cNvSpPr txBox="1"/>
          <p:nvPr/>
        </p:nvSpPr>
        <p:spPr>
          <a:xfrm>
            <a:off x="8267700" y="4743450"/>
            <a:ext cx="3143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Otras chains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“Tú decides qué hacer. GatoPago decide cómo hacerlo.”"/>
          <p:cNvSpPr txBox="1"/>
          <p:nvPr/>
        </p:nvSpPr>
        <p:spPr>
          <a:xfrm>
            <a:off x="800100" y="5781675"/>
            <a:ext cx="104775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“Tú decides qué hacer. GatoPago decide cómo hacerlo.”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4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5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ditable diagram connection 7"/>
          <p:cNvCxnSpPr/>
          <p:nvPr/>
        </p:nvCxnSpPr>
        <p:spPr>
          <a:xfrm>
            <a:off x="8915400" y="1885950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8915400" y="2847975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3" name="Editable diagram connection 13"/>
          <p:cNvCxnSpPr/>
          <p:nvPr/>
        </p:nvCxnSpPr>
        <p:spPr>
          <a:xfrm>
            <a:off x="8915400" y="3810000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6" name="Editable diagram connection 16"/>
          <p:cNvCxnSpPr/>
          <p:nvPr/>
        </p:nvCxnSpPr>
        <p:spPr>
          <a:xfrm>
            <a:off x="8915400" y="4772025"/>
            <a:ext cx="0" cy="257175"/>
          </a:xfrm>
          <a:prstGeom prst="line">
            <a:avLst/>
          </a:prstGeom>
          <a:ln w="17145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ARQUITECTURA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ARQUITECTURA</a:t>
            </a:r>
            <a:endParaRPr sz="120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Payment Operating System"/>
          <p:cNvSpPr txBox="1"/>
          <p:nvPr/>
        </p:nvSpPr>
        <p:spPr>
          <a:xfrm>
            <a:off x="762000" y="1304925"/>
            <a:ext cx="5572125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Payment</a:t>
            </a:r>
            <a:endParaRPr sz="46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Operating System</a:t>
            </a:r>
            <a:endParaRPr sz="46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Modular y escalable Multichain y multicurrency"/>
          <p:cNvSpPr txBox="1"/>
          <p:nvPr/>
        </p:nvSpPr>
        <p:spPr>
          <a:xfrm>
            <a:off x="800100" y="3495675"/>
            <a:ext cx="5095875" cy="776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Modular y escalable</a:t>
            </a:r>
            <a:endParaRPr sz="217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Multichain y multicurrency</a:t>
            </a:r>
            <a:endParaRPr sz="217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Editable diagram node 5"/>
          <p:cNvSpPr/>
          <p:nvPr/>
        </p:nvSpPr>
        <p:spPr>
          <a:xfrm>
            <a:off x="6419850" y="1181100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6" name="Text 6: Wallet, API y Dashboard"/>
          <p:cNvSpPr txBox="1"/>
          <p:nvPr/>
        </p:nvSpPr>
        <p:spPr>
          <a:xfrm>
            <a:off x="6591300" y="1400175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Wallet, API y Dashboard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Editable diagram node 8"/>
          <p:cNvSpPr/>
          <p:nvPr/>
        </p:nvSpPr>
        <p:spPr>
          <a:xfrm>
            <a:off x="6419850" y="2143125"/>
            <a:ext cx="4991100" cy="704850"/>
          </a:xfrm>
          <a:prstGeom prst="rect">
            <a:avLst/>
          </a:prstGeom>
          <a:solidFill>
            <a:srgbClr val="F85239"/>
          </a:solidFill>
          <a:ln w="11430">
            <a:noFill/>
          </a:ln>
        </p:spPr>
      </p:sp>
      <p:sp>
        <p:nvSpPr>
          <p:cNvPr id="9" name="Text 9: Payment Orchestrator"/>
          <p:cNvSpPr txBox="1"/>
          <p:nvPr/>
        </p:nvSpPr>
        <p:spPr>
          <a:xfrm>
            <a:off x="6591300" y="2362200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Payment Orchestrator</a:t>
            </a:r>
            <a:endParaRPr sz="19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Editable diagram node 11"/>
          <p:cNvSpPr/>
          <p:nvPr/>
        </p:nvSpPr>
        <p:spPr>
          <a:xfrm>
            <a:off x="6419850" y="3105150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12" name="Text 12: FX, Routing y Liquidez"/>
          <p:cNvSpPr txBox="1"/>
          <p:nvPr/>
        </p:nvSpPr>
        <p:spPr>
          <a:xfrm>
            <a:off x="6591300" y="3324225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FX, Routing y Liquidez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4" name="Editable diagram node 14"/>
          <p:cNvSpPr/>
          <p:nvPr/>
        </p:nvSpPr>
        <p:spPr>
          <a:xfrm>
            <a:off x="6419850" y="4067175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15" name="Text 15: Risk, Compliance y Conciliación"/>
          <p:cNvSpPr txBox="1"/>
          <p:nvPr/>
        </p:nvSpPr>
        <p:spPr>
          <a:xfrm>
            <a:off x="6591300" y="4286250"/>
            <a:ext cx="46482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Risk, Compliance y Conciliación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7" name="Editable diagram node 17"/>
          <p:cNvSpPr/>
          <p:nvPr/>
        </p:nvSpPr>
        <p:spPr>
          <a:xfrm>
            <a:off x="6419850" y="5029200"/>
            <a:ext cx="4991100" cy="704850"/>
          </a:xfrm>
          <a:prstGeom prst="rect">
            <a:avLst/>
          </a:prstGeom>
          <a:noFill/>
          <a:ln w="11430">
            <a:solidFill>
              <a:srgbClr val="675E57"/>
            </a:solidFill>
          </a:ln>
        </p:spPr>
      </p:sp>
      <p:sp>
        <p:nvSpPr>
          <p:cNvPr id="18" name="Text 18: Avalanche, Base, Solana, PSP/Bancos"/>
          <p:cNvSpPr txBox="1"/>
          <p:nvPr/>
        </p:nvSpPr>
        <p:spPr>
          <a:xfrm>
            <a:off x="6591300" y="5248275"/>
            <a:ext cx="464820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Avalanche, Base, Solana, PSP/Bancos</a:t>
            </a:r>
            <a:endParaRPr sz="172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9" name="Text 19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C9BFB5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20" name="Text 20: 5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5</a:t>
            </a:r>
            <a:endParaRPr sz="105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ditable diagram connection 7"/>
          <p:cNvCxnSpPr/>
          <p:nvPr/>
        </p:nvCxnSpPr>
        <p:spPr>
          <a:xfrm>
            <a:off x="2486025" y="3819525"/>
            <a:ext cx="3810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9" name="Editable diagram connection 9"/>
          <p:cNvCxnSpPr/>
          <p:nvPr/>
        </p:nvCxnSpPr>
        <p:spPr>
          <a:xfrm>
            <a:off x="4714875" y="3819525"/>
            <a:ext cx="3429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6905625" y="3819525"/>
            <a:ext cx="523875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3" name="Editable diagram connection 13"/>
          <p:cNvCxnSpPr/>
          <p:nvPr/>
        </p:nvCxnSpPr>
        <p:spPr>
          <a:xfrm>
            <a:off x="9277350" y="3819525"/>
            <a:ext cx="390525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FLUJO OPERATIVO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FLUJO OPERATIVO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Del pago local al settlement on-chain"/>
          <p:cNvSpPr txBox="1"/>
          <p:nvPr/>
        </p:nvSpPr>
        <p:spPr>
          <a:xfrm>
            <a:off x="762000" y="838200"/>
            <a:ext cx="10525125" cy="1414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Del pago local al</a:t>
            </a:r>
            <a:endParaRPr sz="43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  <a:buNone/>
              <a:def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3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settlement on-chain</a:t>
            </a:r>
            <a:endParaRPr sz="43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Ejemplo: una empresa cobra en moneda local y liquida en"/>
          <p:cNvSpPr txBox="1"/>
          <p:nvPr/>
        </p:nvSpPr>
        <p:spPr>
          <a:xfrm>
            <a:off x="800100" y="2409825"/>
            <a:ext cx="10477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Ejemplo: una empresa cobra en moneda local y liquida en USDC.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BOB"/>
          <p:cNvSpPr txBox="1"/>
          <p:nvPr/>
        </p:nvSpPr>
        <p:spPr>
          <a:xfrm>
            <a:off x="800100" y="3476625"/>
            <a:ext cx="1809750" cy="585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128"/>
              </a:lnSpc>
              <a:spcBef>
                <a:spcPts val="0"/>
              </a:spcBef>
              <a:spcAft>
                <a:spcPts val="0"/>
              </a:spcAft>
              <a:buNone/>
              <a:def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BOB</a:t>
            </a:r>
            <a:endParaRPr sz="3225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Pago local"/>
          <p:cNvSpPr txBox="1"/>
          <p:nvPr/>
        </p:nvSpPr>
        <p:spPr>
          <a:xfrm>
            <a:off x="800100" y="4057650"/>
            <a:ext cx="180975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Pago local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PSP / Banco"/>
          <p:cNvSpPr txBox="1"/>
          <p:nvPr/>
        </p:nvSpPr>
        <p:spPr>
          <a:xfrm>
            <a:off x="3028950" y="3476625"/>
            <a:ext cx="1809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PSP / Banco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0" name="Text 10: FX Engine"/>
          <p:cNvSpPr txBox="1"/>
          <p:nvPr/>
        </p:nvSpPr>
        <p:spPr>
          <a:xfrm>
            <a:off x="5219700" y="3476625"/>
            <a:ext cx="1809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FX Engine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USDC"/>
          <p:cNvSpPr txBox="1"/>
          <p:nvPr/>
        </p:nvSpPr>
        <p:spPr>
          <a:xfrm>
            <a:off x="7591425" y="3476625"/>
            <a:ext cx="1809750" cy="585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4128"/>
              </a:lnSpc>
              <a:spcBef>
                <a:spcPts val="0"/>
              </a:spcBef>
              <a:spcAft>
                <a:spcPts val="0"/>
              </a:spcAft>
              <a:buNone/>
              <a:def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322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USDC</a:t>
            </a:r>
            <a:endParaRPr sz="3225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Avalanche"/>
          <p:cNvSpPr txBox="1"/>
          <p:nvPr/>
        </p:nvSpPr>
        <p:spPr>
          <a:xfrm>
            <a:off x="9829800" y="3476625"/>
            <a:ext cx="1809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Avalanche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/ Chain"/>
          <p:cNvSpPr txBox="1"/>
          <p:nvPr/>
        </p:nvSpPr>
        <p:spPr>
          <a:xfrm>
            <a:off x="9829800" y="4057650"/>
            <a:ext cx="180975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/ Chain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Cotización bloqueada Fees visibles Tx trazable"/>
          <p:cNvSpPr txBox="1"/>
          <p:nvPr/>
        </p:nvSpPr>
        <p:spPr>
          <a:xfrm>
            <a:off x="800100" y="5048250"/>
            <a:ext cx="8572500" cy="10481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Cotización bloqueada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Fees visibles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Tx trazable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pic>
        <p:nvPicPr>
          <p:cNvPr id="17" name="El gato transportando un paquete" descr="El gato transportando un paquete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10191750" y="4981575"/>
            <a:ext cx="1200150" cy="1194054"/>
          </a:xfrm>
          <a:prstGeom prst="rect">
            <a:avLst/>
          </a:prstGeom>
          <a:ln>
            <a:noFill/>
          </a:ln>
        </p:spPr>
      </p:pic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6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6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: MODELO NON-CUSTODIAL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MODELO NON-CUSTODIAL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El dinero vive en blockchain"/>
          <p:cNvSpPr txBox="1"/>
          <p:nvPr/>
        </p:nvSpPr>
        <p:spPr>
          <a:xfrm>
            <a:off x="762000" y="838200"/>
            <a:ext cx="6286500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El dinero vive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en blockchain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GatoPago no necesita “guardar” fondos para orquestar op"/>
          <p:cNvSpPr txBox="1"/>
          <p:nvPr/>
        </p:nvSpPr>
        <p:spPr>
          <a:xfrm>
            <a:off x="800100" y="2686050"/>
            <a:ext cx="5619750" cy="756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GatoPago no necesita “guardar” fondos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para orquestar operaciones.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La plataforma ejecuta bajo reglas, límites y autorizaci"/>
          <p:cNvSpPr txBox="1"/>
          <p:nvPr/>
        </p:nvSpPr>
        <p:spPr>
          <a:xfrm>
            <a:off x="800100" y="5105400"/>
            <a:ext cx="5619750" cy="7800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La plataforma ejecuta bajo reglas,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límites y autorizaciones.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1"/>
          <p:cNvSpPr txBox="1"/>
          <p:nvPr/>
        </p:nvSpPr>
        <p:spPr>
          <a:xfrm>
            <a:off x="7296150" y="142875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7" name="Text 7: Usuario mantiene control"/>
          <p:cNvSpPr txBox="1"/>
          <p:nvPr/>
        </p:nvSpPr>
        <p:spPr>
          <a:xfrm>
            <a:off x="7848600" y="1409700"/>
            <a:ext cx="3524250" cy="76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Usuario mantiene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control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2"/>
          <p:cNvSpPr txBox="1"/>
          <p:nvPr/>
        </p:nvSpPr>
        <p:spPr>
          <a:xfrm>
            <a:off x="7296150" y="255270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9" name="Text 9: Permisos programables"/>
          <p:cNvSpPr txBox="1"/>
          <p:nvPr/>
        </p:nvSpPr>
        <p:spPr>
          <a:xfrm>
            <a:off x="7848600" y="2533650"/>
            <a:ext cx="3524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Permisos programables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0" name="Text 10: 3"/>
          <p:cNvSpPr txBox="1"/>
          <p:nvPr/>
        </p:nvSpPr>
        <p:spPr>
          <a:xfrm>
            <a:off x="7296150" y="367665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1" name="Text 11: Trazabilidad on-chain"/>
          <p:cNvSpPr txBox="1"/>
          <p:nvPr/>
        </p:nvSpPr>
        <p:spPr>
          <a:xfrm>
            <a:off x="7848600" y="3657600"/>
            <a:ext cx="3524250" cy="4086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Trazabilidad on-chain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4"/>
          <p:cNvSpPr txBox="1"/>
          <p:nvPr/>
        </p:nvSpPr>
        <p:spPr>
          <a:xfrm>
            <a:off x="7296150" y="4800600"/>
            <a:ext cx="3619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Menor exposición custodial"/>
          <p:cNvSpPr txBox="1"/>
          <p:nvPr/>
        </p:nvSpPr>
        <p:spPr>
          <a:xfrm>
            <a:off x="7848600" y="4781550"/>
            <a:ext cx="3524250" cy="7610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Menor exposición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custodial</a:t>
            </a:r>
            <a:endParaRPr sz="22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5" name="Text 15: 7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7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Editable diagram connection 6"/>
          <p:cNvCxnSpPr/>
          <p:nvPr/>
        </p:nvCxnSpPr>
        <p:spPr>
          <a:xfrm>
            <a:off x="6096000" y="3695700"/>
            <a:ext cx="0" cy="26670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7" name="Editable diagram connection 7"/>
          <p:cNvCxnSpPr/>
          <p:nvPr/>
        </p:nvCxnSpPr>
        <p:spPr>
          <a:xfrm>
            <a:off x="1476375" y="3962400"/>
            <a:ext cx="92202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8" name="Editable diagram connection 8"/>
          <p:cNvCxnSpPr/>
          <p:nvPr/>
        </p:nvCxnSpPr>
        <p:spPr>
          <a:xfrm>
            <a:off x="147637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3009900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2" name="Editable diagram connection 12"/>
          <p:cNvCxnSpPr/>
          <p:nvPr/>
        </p:nvCxnSpPr>
        <p:spPr>
          <a:xfrm>
            <a:off x="454342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4" name="Editable diagram connection 14"/>
          <p:cNvCxnSpPr/>
          <p:nvPr/>
        </p:nvCxnSpPr>
        <p:spPr>
          <a:xfrm>
            <a:off x="6076950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6" name="Editable diagram connection 16"/>
          <p:cNvCxnSpPr/>
          <p:nvPr/>
        </p:nvCxnSpPr>
        <p:spPr>
          <a:xfrm>
            <a:off x="761047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8" name="Editable diagram connection 18"/>
          <p:cNvCxnSpPr/>
          <p:nvPr/>
        </p:nvCxnSpPr>
        <p:spPr>
          <a:xfrm>
            <a:off x="9144000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20" name="Editable diagram connection 20"/>
          <p:cNvCxnSpPr/>
          <p:nvPr/>
        </p:nvCxnSpPr>
        <p:spPr>
          <a:xfrm>
            <a:off x="10677525" y="3962400"/>
            <a:ext cx="0" cy="333375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sp>
        <p:nvSpPr>
          <p:cNvPr id="2" name="Text 2: PRODUCTOS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PRODUCTOS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Un ecosistema sobre el mismo motor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Un ecosistema sobre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el mismo motor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Editable diagram node 4"/>
          <p:cNvSpPr/>
          <p:nvPr/>
        </p:nvSpPr>
        <p:spPr>
          <a:xfrm>
            <a:off x="4429125" y="2714625"/>
            <a:ext cx="3333750" cy="981075"/>
          </a:xfrm>
          <a:prstGeom prst="rect">
            <a:avLst/>
          </a:prstGeom>
          <a:solidFill>
            <a:srgbClr val="F85239"/>
          </a:solidFill>
          <a:ln w="19050">
            <a:noFill/>
          </a:ln>
        </p:spPr>
      </p:sp>
      <p:sp>
        <p:nvSpPr>
          <p:cNvPr id="5" name="Text 5: GatoPago Core"/>
          <p:cNvSpPr txBox="1"/>
          <p:nvPr/>
        </p:nvSpPr>
        <p:spPr>
          <a:xfrm>
            <a:off x="4638675" y="3009900"/>
            <a:ext cx="2933700" cy="4903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buNone/>
              <a:def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rPr>
              <a:t>GatoPago Core</a:t>
            </a:r>
            <a:endParaRPr sz="2700" lang="es-BO" b="0" i="0" kern="1200">
              <a:solidFill>
                <a:srgbClr val="0B0B0F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9" name="Text 9: Wallet"/>
          <p:cNvSpPr txBox="1"/>
          <p:nvPr/>
        </p:nvSpPr>
        <p:spPr>
          <a:xfrm>
            <a:off x="752475" y="4552950"/>
            <a:ext cx="14478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Wallet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Payments API"/>
          <p:cNvSpPr txBox="1"/>
          <p:nvPr/>
        </p:nvSpPr>
        <p:spPr>
          <a:xfrm>
            <a:off x="2286000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Payments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API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3" name="Text 13: Dashboard B2B"/>
          <p:cNvSpPr txBox="1"/>
          <p:nvPr/>
        </p:nvSpPr>
        <p:spPr>
          <a:xfrm>
            <a:off x="3819525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Dashboard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B2B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Links de pago"/>
          <p:cNvSpPr txBox="1"/>
          <p:nvPr/>
        </p:nvSpPr>
        <p:spPr>
          <a:xfrm>
            <a:off x="5353050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Links de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pago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Payroll"/>
          <p:cNvSpPr txBox="1"/>
          <p:nvPr/>
        </p:nvSpPr>
        <p:spPr>
          <a:xfrm>
            <a:off x="6886575" y="4552950"/>
            <a:ext cx="14478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Payroll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9" name="Text 19: Smart Wallet"/>
          <p:cNvSpPr txBox="1"/>
          <p:nvPr/>
        </p:nvSpPr>
        <p:spPr>
          <a:xfrm>
            <a:off x="8420100" y="4552950"/>
            <a:ext cx="14478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Smart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Wallet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21" name="Text 21: AI Agents"/>
          <p:cNvSpPr txBox="1"/>
          <p:nvPr/>
        </p:nvSpPr>
        <p:spPr>
          <a:xfrm>
            <a:off x="9953625" y="4552950"/>
            <a:ext cx="14478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AI Agents</a:t>
            </a:r>
            <a:endParaRPr sz="20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22" name="Text 22: B2B primero. B2C y Cards después."/>
          <p:cNvSpPr txBox="1"/>
          <p:nvPr/>
        </p:nvSpPr>
        <p:spPr>
          <a:xfrm>
            <a:off x="800100" y="5857875"/>
            <a:ext cx="10477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B2B primero. B2C y Cards después.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23" name="Text 23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24" name="Text 24: 8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8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9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Editable diagram connection 5"/>
          <p:cNvCxnSpPr/>
          <p:nvPr/>
        </p:nvCxnSpPr>
        <p:spPr>
          <a:xfrm>
            <a:off x="6096000" y="2790825"/>
            <a:ext cx="0" cy="32385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cxnSp>
        <p:nvCxnSpPr>
          <p:cNvPr id="10" name="Editable diagram connection 10"/>
          <p:cNvCxnSpPr/>
          <p:nvPr/>
        </p:nvCxnSpPr>
        <p:spPr>
          <a:xfrm>
            <a:off x="3171825" y="3667125"/>
            <a:ext cx="1285875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7562850" y="3667125"/>
            <a:ext cx="1543050" cy="0"/>
          </a:xfrm>
          <a:prstGeom prst="line">
            <a:avLst/>
          </a:prstGeom>
          <a:ln w="2286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2" name="Editable diagram connection 12"/>
          <p:cNvCxnSpPr/>
          <p:nvPr/>
        </p:nvCxnSpPr>
        <p:spPr>
          <a:xfrm>
            <a:off x="6096000" y="4219575"/>
            <a:ext cx="0" cy="447675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INNOVACIONES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INNOVACIONES</a:t>
            </a:r>
            <a:endParaRPr sz="120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Los motores que llaman la atención"/>
          <p:cNvSpPr txBox="1"/>
          <p:nvPr/>
        </p:nvSpPr>
        <p:spPr>
          <a:xfrm>
            <a:off x="762000" y="838200"/>
            <a:ext cx="10525125" cy="1438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None/>
              <a:def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Los motores que</a:t>
            </a:r>
            <a:endParaRPr sz="44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None/>
              <a:def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42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llaman la atención</a:t>
            </a:r>
            <a:endParaRPr sz="442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FX + Rate Lock"/>
          <p:cNvSpPr txBox="1"/>
          <p:nvPr/>
        </p:nvSpPr>
        <p:spPr>
          <a:xfrm>
            <a:off x="4562475" y="2390775"/>
            <a:ext cx="3048000" cy="36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592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FX + Rate Lock</a:t>
            </a:r>
            <a:endParaRPr sz="202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Editable diagram node 6"/>
          <p:cNvSpPr/>
          <p:nvPr/>
        </p:nvSpPr>
        <p:spPr>
          <a:xfrm>
            <a:off x="4610100" y="3114675"/>
            <a:ext cx="2952750" cy="1104900"/>
          </a:xfrm>
          <a:prstGeom prst="rect">
            <a:avLst/>
          </a:prstGeom>
          <a:solidFill>
            <a:srgbClr val="F85239"/>
          </a:solidFill>
          <a:ln w="19050">
            <a:noFill/>
          </a:ln>
        </p:spPr>
      </p:sp>
      <p:sp>
        <p:nvSpPr>
          <p:cNvPr id="7" name="Text 7: Smart Routing"/>
          <p:cNvSpPr txBox="1"/>
          <p:nvPr/>
        </p:nvSpPr>
        <p:spPr>
          <a:xfrm>
            <a:off x="4857750" y="3295650"/>
            <a:ext cx="2457450" cy="87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Smart</a:t>
            </a:r>
            <a:endParaRPr sz="26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ctr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6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Routing</a:t>
            </a:r>
            <a:endParaRPr sz="26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Intent Payments"/>
          <p:cNvSpPr txBox="1"/>
          <p:nvPr/>
        </p:nvSpPr>
        <p:spPr>
          <a:xfrm>
            <a:off x="800100" y="3333750"/>
            <a:ext cx="2352675" cy="8400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Intent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Payments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Best Execution"/>
          <p:cNvSpPr txBox="1"/>
          <p:nvPr/>
        </p:nvSpPr>
        <p:spPr>
          <a:xfrm>
            <a:off x="9315450" y="3333750"/>
            <a:ext cx="2095500" cy="8400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Best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3075"/>
              </a:lnSpc>
              <a:spcBef>
                <a:spcPts val="0"/>
              </a:spcBef>
              <a:spcAft>
                <a:spcPts val="0"/>
              </a:spcAft>
              <a:buNone/>
              <a:def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4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Execution</a:t>
            </a:r>
            <a:endParaRPr sz="24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3" name="Text 13: Liquidity Marketplace"/>
          <p:cNvSpPr txBox="1"/>
          <p:nvPr/>
        </p:nvSpPr>
        <p:spPr>
          <a:xfrm>
            <a:off x="4019550" y="4838700"/>
            <a:ext cx="4143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Liquidity Marketplace</a:t>
            </a:r>
            <a:endParaRPr sz="210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4" name="Text 14: AI Copilot"/>
          <p:cNvSpPr txBox="1"/>
          <p:nvPr/>
        </p:nvSpPr>
        <p:spPr>
          <a:xfrm>
            <a:off x="800100" y="5534025"/>
            <a:ext cx="295275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AI Copilot</a:t>
            </a:r>
            <a:endParaRPr sz="195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5" name="Text 15: Risk Scoring"/>
          <p:cNvSpPr txBox="1"/>
          <p:nvPr/>
        </p:nvSpPr>
        <p:spPr>
          <a:xfrm>
            <a:off x="9058275" y="5534025"/>
            <a:ext cx="23526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Risk Scoring</a:t>
            </a:r>
            <a:endParaRPr sz="195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C9BFB5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7" name="Text 17: 9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9</a:t>
            </a:r>
            <a:endParaRPr sz="105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Editable diagram connection 8"/>
          <p:cNvCxnSpPr/>
          <p:nvPr/>
        </p:nvCxnSpPr>
        <p:spPr>
          <a:xfrm>
            <a:off x="3086100" y="4410075"/>
            <a:ext cx="30480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1" name="Editable diagram connection 11"/>
          <p:cNvCxnSpPr/>
          <p:nvPr/>
        </p:nvCxnSpPr>
        <p:spPr>
          <a:xfrm>
            <a:off x="5848350" y="4410075"/>
            <a:ext cx="24765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cxnSp>
        <p:nvCxnSpPr>
          <p:cNvPr id="14" name="Editable diagram connection 14"/>
          <p:cNvCxnSpPr/>
          <p:nvPr/>
        </p:nvCxnSpPr>
        <p:spPr>
          <a:xfrm>
            <a:off x="8553450" y="4410075"/>
            <a:ext cx="438150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  <a:tailEnd type="triangle" w="sm" len="sm"/>
          </a:ln>
        </p:spPr>
      </p:cxnSp>
      <p:sp>
        <p:nvSpPr>
          <p:cNvPr id="2" name="Text 2: AI + SMART MONEY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AI + SMART MONEY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Pagos operados por agentes"/>
          <p:cNvSpPr txBox="1"/>
          <p:nvPr/>
        </p:nvSpPr>
        <p:spPr>
          <a:xfrm>
            <a:off x="762000" y="838200"/>
            <a:ext cx="10525125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Pagos operados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por agentes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Agentes que cotizan, verifican, ejecutan y concilian ba"/>
          <p:cNvSpPr txBox="1"/>
          <p:nvPr/>
        </p:nvSpPr>
        <p:spPr>
          <a:xfrm>
            <a:off x="800100" y="2543175"/>
            <a:ext cx="6858000" cy="7569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Agentes que cotizan, verifican, ejecutan y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concilian bajo límites.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pic>
        <p:nvPicPr>
          <p:cNvPr id="5" name="El gato empujando un carrito" descr="El gato empujando un carrito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9515475" y="1400175"/>
            <a:ext cx="1828800" cy="1590294"/>
          </a:xfrm>
          <a:prstGeom prst="rect">
            <a:avLst/>
          </a:prstGeom>
          <a:ln>
            <a:noFill/>
          </a:ln>
        </p:spPr>
      </p:pic>
      <p:sp>
        <p:nvSpPr>
          <p:cNvPr id="6" name="Text 6: 1"/>
          <p:cNvSpPr txBox="1"/>
          <p:nvPr/>
        </p:nvSpPr>
        <p:spPr>
          <a:xfrm>
            <a:off x="80010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7" name="Text 7: Cotiza"/>
          <p:cNvSpPr txBox="1"/>
          <p:nvPr/>
        </p:nvSpPr>
        <p:spPr>
          <a:xfrm>
            <a:off x="800100" y="4219575"/>
            <a:ext cx="2171700" cy="4222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Cotiza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2"/>
          <p:cNvSpPr txBox="1"/>
          <p:nvPr/>
        </p:nvSpPr>
        <p:spPr>
          <a:xfrm>
            <a:off x="356235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Evalúa riesgo"/>
          <p:cNvSpPr txBox="1"/>
          <p:nvPr/>
        </p:nvSpPr>
        <p:spPr>
          <a:xfrm>
            <a:off x="3562350" y="4219575"/>
            <a:ext cx="217170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Evalúa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riesgo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3"/>
          <p:cNvSpPr txBox="1"/>
          <p:nvPr/>
        </p:nvSpPr>
        <p:spPr>
          <a:xfrm>
            <a:off x="626745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Solicita aprobación"/>
          <p:cNvSpPr txBox="1"/>
          <p:nvPr/>
        </p:nvSpPr>
        <p:spPr>
          <a:xfrm>
            <a:off x="6267450" y="4219575"/>
            <a:ext cx="217170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Solicita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aprobación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4"/>
          <p:cNvSpPr txBox="1"/>
          <p:nvPr/>
        </p:nvSpPr>
        <p:spPr>
          <a:xfrm>
            <a:off x="9163050" y="3771900"/>
            <a:ext cx="476250" cy="313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  <a:buNone/>
              <a:def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725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725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Ejecuta + concilia"/>
          <p:cNvSpPr txBox="1"/>
          <p:nvPr/>
        </p:nvSpPr>
        <p:spPr>
          <a:xfrm>
            <a:off x="9163050" y="4219575"/>
            <a:ext cx="2171700" cy="793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Ejecuta +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  <a:buNone/>
              <a:def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32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concilia</a:t>
            </a:r>
            <a:endParaRPr sz="232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Copilot financiero, Payment Agent, Risk Agent y Reconci"/>
          <p:cNvSpPr txBox="1"/>
          <p:nvPr/>
        </p:nvSpPr>
        <p:spPr>
          <a:xfrm>
            <a:off x="800100" y="5724525"/>
            <a:ext cx="10477500" cy="3405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8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Copilot financiero, Payment Agent, Risk Agent y Reconciliation Agent</a:t>
            </a:r>
            <a:endParaRPr sz="18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8" name="Text 18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9" name="Text 19: 10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10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1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: VENTAJAS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F85239"/>
                </a:solidFill>
                <a:latin typeface="GatoPago Deck Text"/>
                <a:ea typeface="GatoPago Deck Text"/>
                <a:cs typeface="GatoPago Deck Text"/>
              </a:rPr>
              <a:t>VENTAJAS</a:t>
            </a:r>
            <a:endParaRPr sz="1200" lang="es-BO" b="0" i="0" kern="1200">
              <a:solidFill>
                <a:srgbClr val="F85239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Más que una wallet"/>
          <p:cNvSpPr txBox="1"/>
          <p:nvPr/>
        </p:nvSpPr>
        <p:spPr>
          <a:xfrm>
            <a:off x="762000" y="838200"/>
            <a:ext cx="10525125" cy="8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Más que una wallet</a:t>
            </a:r>
            <a:endParaRPr sz="4650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La ventaja no está en “guardar cripto”. Está en orquest"/>
          <p:cNvSpPr txBox="1"/>
          <p:nvPr/>
        </p:nvSpPr>
        <p:spPr>
          <a:xfrm>
            <a:off x="800100" y="2019300"/>
            <a:ext cx="103822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La ventaja no está en “guardar cripto”. Está en orquestar valor.</a:t>
            </a:r>
            <a:endParaRPr sz="2175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One API."/>
          <p:cNvSpPr txBox="1"/>
          <p:nvPr/>
        </p:nvSpPr>
        <p:spPr>
          <a:xfrm>
            <a:off x="762000" y="3076575"/>
            <a:ext cx="7334250" cy="10487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525"/>
              </a:lnSpc>
              <a:spcBef>
                <a:spcPts val="0"/>
              </a:spcBef>
              <a:spcAft>
                <a:spcPts val="0"/>
              </a:spcAft>
              <a:buNone/>
              <a:defRPr sz="577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775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One API.</a:t>
            </a:r>
            <a:endParaRPr sz="5775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Any currency. Any chain."/>
          <p:cNvSpPr txBox="1"/>
          <p:nvPr/>
        </p:nvSpPr>
        <p:spPr>
          <a:xfrm>
            <a:off x="762000" y="4038600"/>
            <a:ext cx="7505700" cy="189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675"/>
              </a:lnSpc>
              <a:spcBef>
                <a:spcPts val="0"/>
              </a:spcBef>
              <a:spcAft>
                <a:spcPts val="0"/>
              </a:spcAft>
              <a:buNone/>
              <a:defRPr sz="57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7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Any currency.</a:t>
            </a:r>
            <a:endParaRPr sz="57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6675"/>
              </a:lnSpc>
              <a:spcBef>
                <a:spcPts val="0"/>
              </a:spcBef>
              <a:spcAft>
                <a:spcPts val="0"/>
              </a:spcAft>
              <a:buNone/>
              <a:defRPr sz="57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775" lang="es-BO" b="0" i="0" kern="1200">
                <a:solidFill>
                  <a:srgbClr val="FFF8F0"/>
                </a:solidFill>
                <a:latin typeface="GatoPago Deck Display"/>
                <a:ea typeface="GatoPago Deck Display"/>
                <a:cs typeface="GatoPago Deck Display"/>
              </a:rPr>
              <a:t>Any chain.</a:t>
            </a:r>
            <a:endParaRPr sz="5775" lang="es-BO" b="0" i="0" kern="1200">
              <a:solidFill>
                <a:srgbClr val="FFF8F0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Sin apps externas"/>
          <p:cNvSpPr txBox="1"/>
          <p:nvPr/>
        </p:nvSpPr>
        <p:spPr>
          <a:xfrm>
            <a:off x="8791575" y="32194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Sin apps externas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Multimoneda"/>
          <p:cNvSpPr txBox="1"/>
          <p:nvPr/>
        </p:nvSpPr>
        <p:spPr>
          <a:xfrm>
            <a:off x="8791575" y="37528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Multimoneda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9" name="Text 9: Multichain"/>
          <p:cNvSpPr txBox="1"/>
          <p:nvPr/>
        </p:nvSpPr>
        <p:spPr>
          <a:xfrm>
            <a:off x="8791575" y="42862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Multichain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Non-custodial"/>
          <p:cNvSpPr txBox="1"/>
          <p:nvPr/>
        </p:nvSpPr>
        <p:spPr>
          <a:xfrm>
            <a:off x="8791575" y="48196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Non-custodial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1" name="Text 11: B2B + B2C"/>
          <p:cNvSpPr txBox="1"/>
          <p:nvPr/>
        </p:nvSpPr>
        <p:spPr>
          <a:xfrm>
            <a:off x="8791575" y="5353050"/>
            <a:ext cx="2619375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FFF8F0"/>
                </a:solidFill>
                <a:latin typeface="GatoPago Deck Text"/>
                <a:ea typeface="GatoPago Deck Text"/>
                <a:cs typeface="GatoPago Deck Text"/>
              </a:rPr>
              <a:t>B2B + B2C</a:t>
            </a:r>
            <a:endParaRPr sz="1950" lang="es-BO" b="0" i="0" kern="1200">
              <a:solidFill>
                <a:srgbClr val="FFF8F0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C9BFB5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3" name="Text 13: 11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C9BFB5"/>
                </a:solidFill>
                <a:latin typeface="GatoPago Deck Text"/>
                <a:ea typeface="GatoPago Deck Text"/>
                <a:cs typeface="GatoPago Deck Text"/>
              </a:rPr>
              <a:t>11</a:t>
            </a:r>
            <a:endParaRPr sz="1050" lang="es-BO" b="0" i="0" kern="1200">
              <a:solidFill>
                <a:srgbClr val="C9BFB5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: DESCENTRALIZACIÓN DEL DINERO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DESCENTRALIZACIÓN DEL DINERO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Fondos en blockchain. Control del usuario."/>
          <p:cNvSpPr txBox="1"/>
          <p:nvPr/>
        </p:nvSpPr>
        <p:spPr>
          <a:xfrm>
            <a:off x="762000" y="838200"/>
            <a:ext cx="10525125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Fondos en blockchain.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085"/>
              </a:lnSpc>
              <a:spcBef>
                <a:spcPts val="0"/>
              </a:spcBef>
              <a:spcAft>
                <a:spcPts val="0"/>
              </a:spcAft>
              <a:buNone/>
              <a:def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5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Control del usuario.</a:t>
            </a:r>
            <a:endParaRPr sz="45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GatoPago se ubica como una capa de ejecución: conecta m"/>
          <p:cNvSpPr txBox="1"/>
          <p:nvPr/>
        </p:nvSpPr>
        <p:spPr>
          <a:xfrm>
            <a:off x="800100" y="2809875"/>
            <a:ext cx="6057900" cy="16087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GatoPago se ubica como una capa de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ejecución: conecta moneda local,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stablecoins, blockchains y proveedores,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None/>
              <a:def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2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sin ocultar la trazabilidad.</a:t>
            </a:r>
            <a:endParaRPr sz="22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5" name="Text 5: 1"/>
          <p:cNvSpPr txBox="1"/>
          <p:nvPr/>
        </p:nvSpPr>
        <p:spPr>
          <a:xfrm>
            <a:off x="7648575" y="2886075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1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Fondos on-chain"/>
          <p:cNvSpPr txBox="1"/>
          <p:nvPr/>
        </p:nvSpPr>
        <p:spPr>
          <a:xfrm>
            <a:off x="8172450" y="2847975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Fondos on-chain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2"/>
          <p:cNvSpPr txBox="1"/>
          <p:nvPr/>
        </p:nvSpPr>
        <p:spPr>
          <a:xfrm>
            <a:off x="7648575" y="3676650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2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Control del usuario"/>
          <p:cNvSpPr txBox="1"/>
          <p:nvPr/>
        </p:nvSpPr>
        <p:spPr>
          <a:xfrm>
            <a:off x="8172450" y="3638550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Control del usuario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3"/>
          <p:cNvSpPr txBox="1"/>
          <p:nvPr/>
        </p:nvSpPr>
        <p:spPr>
          <a:xfrm>
            <a:off x="7648575" y="4467225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3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Operación trazable"/>
          <p:cNvSpPr txBox="1"/>
          <p:nvPr/>
        </p:nvSpPr>
        <p:spPr>
          <a:xfrm>
            <a:off x="8172450" y="4429125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Operación trazable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4"/>
          <p:cNvSpPr txBox="1"/>
          <p:nvPr/>
        </p:nvSpPr>
        <p:spPr>
          <a:xfrm>
            <a:off x="7648575" y="5257800"/>
            <a:ext cx="381000" cy="2996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112"/>
              </a:lnSpc>
              <a:spcBef>
                <a:spcPts val="0"/>
              </a:spcBef>
              <a:spcAft>
                <a:spcPts val="0"/>
              </a:spcAft>
              <a:buNone/>
              <a:def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65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4</a:t>
            </a:r>
            <a:endParaRPr sz="165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2" name="Text 12: Dinero sin fronteras"/>
          <p:cNvSpPr txBox="1"/>
          <p:nvPr/>
        </p:nvSpPr>
        <p:spPr>
          <a:xfrm>
            <a:off x="8172450" y="5219700"/>
            <a:ext cx="3238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Dinero sin fronteras</a:t>
            </a:r>
            <a:endParaRPr sz="210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3" name="Text 13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14" name="Text 14: 12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12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Editable diagram connection 19"/>
          <p:cNvCxnSpPr/>
          <p:nvPr/>
        </p:nvCxnSpPr>
        <p:spPr>
          <a:xfrm>
            <a:off x="800100" y="4124325"/>
            <a:ext cx="10544175" cy="0"/>
          </a:xfrm>
          <a:prstGeom prst="line">
            <a:avLst/>
          </a:prstGeom>
          <a:ln w="19050">
            <a:solidFill>
              <a:srgbClr val="F85239"/>
            </a:solidFill>
            <a:prstDash val="solid"/>
          </a:ln>
        </p:spPr>
      </p:cxnSp>
      <p:sp>
        <p:nvSpPr>
          <p:cNvPr id="2" name="Text 2: ROADMAP"/>
          <p:cNvSpPr txBox="1"/>
          <p:nvPr/>
        </p:nvSpPr>
        <p:spPr>
          <a:xfrm>
            <a:off x="800100" y="485775"/>
            <a:ext cx="10477500" cy="2179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None/>
              <a:def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200" lang="es-BO" b="0" i="0" kern="1200">
                <a:solidFill>
                  <a:srgbClr val="CF3433"/>
                </a:solidFill>
                <a:latin typeface="GatoPago Deck Text"/>
                <a:ea typeface="GatoPago Deck Text"/>
                <a:cs typeface="GatoPago Deck Text"/>
              </a:rPr>
              <a:t>ROADMAP</a:t>
            </a:r>
            <a:endParaRPr sz="1200" lang="es-BO" b="0" i="0" kern="1200">
              <a:solidFill>
                <a:srgbClr val="CF3433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3" name="Text 3: De MVP a infraestructura global"/>
          <p:cNvSpPr txBox="1"/>
          <p:nvPr/>
        </p:nvSpPr>
        <p:spPr>
          <a:xfrm>
            <a:off x="762000" y="838200"/>
            <a:ext cx="10525125" cy="15118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 MVP a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5254"/>
              </a:lnSpc>
              <a:spcBef>
                <a:spcPts val="0"/>
              </a:spcBef>
              <a:spcAft>
                <a:spcPts val="0"/>
              </a:spcAft>
              <a:buNone/>
              <a:def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650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infraestructura global</a:t>
            </a:r>
            <a:endParaRPr sz="4650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4" name="Text 4: 1"/>
          <p:cNvSpPr txBox="1"/>
          <p:nvPr/>
        </p:nvSpPr>
        <p:spPr>
          <a:xfrm>
            <a:off x="8001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1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5" name="Text 5: MVP B2B"/>
          <p:cNvSpPr txBox="1"/>
          <p:nvPr/>
        </p:nvSpPr>
        <p:spPr>
          <a:xfrm>
            <a:off x="8001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MVP B2B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6" name="Text 6: BOB + USDC"/>
          <p:cNvSpPr txBox="1"/>
          <p:nvPr/>
        </p:nvSpPr>
        <p:spPr>
          <a:xfrm>
            <a:off x="8001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BOB + USDC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7" name="Text 7: 2"/>
          <p:cNvSpPr txBox="1"/>
          <p:nvPr/>
        </p:nvSpPr>
        <p:spPr>
          <a:xfrm>
            <a:off x="29718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2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8" name="Text 8: Multichain"/>
          <p:cNvSpPr txBox="1"/>
          <p:nvPr/>
        </p:nvSpPr>
        <p:spPr>
          <a:xfrm>
            <a:off x="29718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Multichain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9" name="Text 9: Routing"/>
          <p:cNvSpPr txBox="1"/>
          <p:nvPr/>
        </p:nvSpPr>
        <p:spPr>
          <a:xfrm>
            <a:off x="29718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Routing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0" name="Text 10: 3"/>
          <p:cNvSpPr txBox="1"/>
          <p:nvPr/>
        </p:nvSpPr>
        <p:spPr>
          <a:xfrm>
            <a:off x="51435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3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1" name="Text 11: Corporate"/>
          <p:cNvSpPr txBox="1"/>
          <p:nvPr/>
        </p:nvSpPr>
        <p:spPr>
          <a:xfrm>
            <a:off x="51435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Corporate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2" name="Text 12: Wallet"/>
          <p:cNvSpPr txBox="1"/>
          <p:nvPr/>
        </p:nvSpPr>
        <p:spPr>
          <a:xfrm>
            <a:off x="51435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Wallet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3" name="Text 13: 4"/>
          <p:cNvSpPr txBox="1"/>
          <p:nvPr/>
        </p:nvSpPr>
        <p:spPr>
          <a:xfrm>
            <a:off x="73152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4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4" name="Text 14: AI Agents"/>
          <p:cNvSpPr txBox="1"/>
          <p:nvPr/>
        </p:nvSpPr>
        <p:spPr>
          <a:xfrm>
            <a:off x="73152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AI Agents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5" name="Text 15: Treasury"/>
          <p:cNvSpPr txBox="1"/>
          <p:nvPr/>
        </p:nvSpPr>
        <p:spPr>
          <a:xfrm>
            <a:off x="73152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Treasury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16" name="Text 16: 5"/>
          <p:cNvSpPr txBox="1"/>
          <p:nvPr/>
        </p:nvSpPr>
        <p:spPr>
          <a:xfrm>
            <a:off x="9486900" y="3352800"/>
            <a:ext cx="1771650" cy="7627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5376"/>
              </a:lnSpc>
              <a:spcBef>
                <a:spcPts val="0"/>
              </a:spcBef>
              <a:spcAft>
                <a:spcPts val="0"/>
              </a:spcAft>
              <a:buNone/>
              <a:def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4200" lang="es-BO" b="0" i="0" kern="1200">
                <a:solidFill>
                  <a:srgbClr val="F85239"/>
                </a:solidFill>
                <a:latin typeface="GatoPago Deck Display"/>
                <a:ea typeface="GatoPago Deck Display"/>
                <a:cs typeface="GatoPago Deck Display"/>
              </a:rPr>
              <a:t>5</a:t>
            </a:r>
            <a:endParaRPr sz="4200" lang="es-BO" b="0" i="0" kern="1200">
              <a:solidFill>
                <a:srgbClr val="F85239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7" name="Text 17: Cards"/>
          <p:cNvSpPr txBox="1"/>
          <p:nvPr/>
        </p:nvSpPr>
        <p:spPr>
          <a:xfrm>
            <a:off x="9486900" y="4324350"/>
            <a:ext cx="190500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Cards</a:t>
            </a:r>
            <a:endParaRPr sz="21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18" name="Text 18: Global"/>
          <p:cNvSpPr txBox="1"/>
          <p:nvPr/>
        </p:nvSpPr>
        <p:spPr>
          <a:xfrm>
            <a:off x="9486900" y="4829175"/>
            <a:ext cx="1905000" cy="354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None/>
              <a:def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95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Global</a:t>
            </a:r>
            <a:endParaRPr sz="195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20" name="Text 20: Construir el motor primero. Luego escalar productos enc"/>
          <p:cNvSpPr txBox="1"/>
          <p:nvPr/>
        </p:nvSpPr>
        <p:spPr>
          <a:xfrm>
            <a:off x="800100" y="5848350"/>
            <a:ext cx="104775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buNone/>
              <a:def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00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Construir el motor primero. Luego escalar productos encima.</a:t>
            </a:r>
            <a:endParaRPr sz="2100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21" name="Text 21: GatoPago"/>
          <p:cNvSpPr txBox="1"/>
          <p:nvPr/>
        </p:nvSpPr>
        <p:spPr>
          <a:xfrm>
            <a:off x="800100" y="6419850"/>
            <a:ext cx="1905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1050" lang="es-BO" b="0" i="0" kern="1200">
              <a:solidFill>
                <a:srgbClr val="675E57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22" name="Text 22: 13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13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GatoPago 1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ímbolo oficial de GatoPago" descr="Símbolo oficial de GatoPago"/>
          <p:cNvPicPr>
            <a:picLocks noChangeAspect="1"/>
          </p:cNvPicPr>
          <p:nvPr/>
        </p:nvPicPr>
        <p:blipFill>
          <a:blip r:embed="rIdGP0" cstate="print"/>
          <a:stretch>
            <a:fillRect/>
          </a:stretch>
        </p:blipFill>
        <p:spPr>
          <a:xfrm>
            <a:off x="800100" y="571500"/>
            <a:ext cx="571500" cy="438150"/>
          </a:xfrm>
          <a:prstGeom prst="rect">
            <a:avLst/>
          </a:prstGeom>
          <a:ln>
            <a:noFill/>
          </a:ln>
        </p:spPr>
      </p:pic>
      <p:sp>
        <p:nvSpPr>
          <p:cNvPr id="3" name="Text 3: GatoPago"/>
          <p:cNvSpPr txBox="1"/>
          <p:nvPr/>
        </p:nvSpPr>
        <p:spPr>
          <a:xfrm>
            <a:off x="1562100" y="590550"/>
            <a:ext cx="3143250" cy="4903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3456"/>
              </a:lnSpc>
              <a:spcBef>
                <a:spcPts val="0"/>
              </a:spcBef>
              <a:spcAft>
                <a:spcPts val="0"/>
              </a:spcAft>
              <a:buNone/>
              <a:def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defRPr>
            </a:pPr>
            <a:r>
              <a:rPr sz="2700" lang="es-BO" b="0" i="0" kern="1200">
                <a:solidFill>
                  <a:srgbClr val="0B0B0F"/>
                </a:solidFill>
                <a:latin typeface="GatoPago Deck Brand"/>
                <a:ea typeface="GatoPago Deck Brand"/>
                <a:cs typeface="GatoPago Deck Brand"/>
              </a:rPr>
              <a:t>GatoPago</a:t>
            </a:r>
            <a:endParaRPr sz="2700" lang="es-BO" b="0" i="0" kern="1200">
              <a:solidFill>
                <a:srgbClr val="0B0B0F"/>
              </a:solidFill>
              <a:latin typeface="GatoPago Deck Brand"/>
              <a:ea typeface="GatoPago Deck Brand"/>
              <a:cs typeface="GatoPago Deck Brand"/>
            </a:endParaRPr>
          </a:p>
        </p:txBody>
      </p:sp>
      <p:sp>
        <p:nvSpPr>
          <p:cNvPr id="4" name="Text 4: De tener cripto a poder usarla"/>
          <p:cNvSpPr txBox="1"/>
          <p:nvPr/>
        </p:nvSpPr>
        <p:spPr>
          <a:xfrm>
            <a:off x="762000" y="1733550"/>
            <a:ext cx="8382000" cy="1775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buNone/>
              <a:def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De tener cripto</a:t>
            </a:r>
            <a:endParaRPr sz="54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  <a:p>
            <a:pPr algn="l" marL="0" indent="0">
              <a:lnSpc>
                <a:spcPts val="6150"/>
              </a:lnSpc>
              <a:spcBef>
                <a:spcPts val="0"/>
              </a:spcBef>
              <a:spcAft>
                <a:spcPts val="0"/>
              </a:spcAft>
              <a:buNone/>
              <a:def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5475" lang="es-BO" b="0" i="0" kern="1200">
                <a:solidFill>
                  <a:srgbClr val="0B0B0F"/>
                </a:solidFill>
                <a:latin typeface="GatoPago Deck Display"/>
                <a:ea typeface="GatoPago Deck Display"/>
                <a:cs typeface="GatoPago Deck Display"/>
              </a:rPr>
              <a:t>a poder usarla</a:t>
            </a:r>
            <a:endParaRPr sz="5475" lang="es-BO" b="0" i="0" kern="1200">
              <a:solidFill>
                <a:srgbClr val="0B0B0F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5" name="Text 5: GatoPago convierte la complejidad blockchain en una exp"/>
          <p:cNvSpPr txBox="1"/>
          <p:nvPr/>
        </p:nvSpPr>
        <p:spPr>
          <a:xfrm>
            <a:off x="800100" y="3657600"/>
            <a:ext cx="6858000" cy="7474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GatoPago convierte la complejidad blockchain en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775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17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una experiencia simple de pago.</a:t>
            </a:r>
            <a:endParaRPr sz="217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6" name="Text 6: Pagar, cobrar, convertir, transferir"/>
          <p:cNvSpPr txBox="1"/>
          <p:nvPr/>
        </p:nvSpPr>
        <p:spPr>
          <a:xfrm>
            <a:off x="800100" y="4810125"/>
            <a:ext cx="9048750" cy="395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buNone/>
              <a:defRPr sz="2175" lang="es-BO" b="0" i="0" kern="1200">
                <a:solidFill>
                  <a:srgbClr val="CF3433"/>
                </a:solidFill>
                <a:latin typeface="GatoPago Deck Display"/>
                <a:ea typeface="GatoPago Deck Display"/>
                <a:cs typeface="GatoPago Deck Display"/>
              </a:defRPr>
            </a:pPr>
            <a:r>
              <a:rPr sz="2175" lang="es-BO" b="0" i="0" kern="1200">
                <a:solidFill>
                  <a:srgbClr val="CF3433"/>
                </a:solidFill>
                <a:latin typeface="GatoPago Deck Display"/>
                <a:ea typeface="GatoPago Deck Display"/>
                <a:cs typeface="GatoPago Deck Display"/>
              </a:rPr>
              <a:t>Pagar, cobrar, convertir, transferir</a:t>
            </a:r>
            <a:endParaRPr sz="2175" lang="es-BO" b="0" i="0" kern="1200">
              <a:solidFill>
                <a:srgbClr val="CF3433"/>
              </a:solidFill>
              <a:latin typeface="GatoPago Deck Display"/>
              <a:ea typeface="GatoPago Deck Display"/>
              <a:cs typeface="GatoPago Deck Display"/>
            </a:endParaRPr>
          </a:p>
        </p:txBody>
      </p:sp>
      <p:sp>
        <p:nvSpPr>
          <p:cNvPr id="7" name="Text 7: Dinero local + stablecoins + múltiples chains en una so"/>
          <p:cNvSpPr txBox="1"/>
          <p:nvPr/>
        </p:nvSpPr>
        <p:spPr>
          <a:xfrm>
            <a:off x="800100" y="5372100"/>
            <a:ext cx="9144000" cy="701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Dinero local + stablecoins + múltiples chains</a:t>
            </a:r>
            <a:endParaRPr sz="202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  <a:p>
            <a:pPr algn="l" marL="0" indent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2025" lang="es-BO" b="0" i="0" kern="1200">
                <a:solidFill>
                  <a:srgbClr val="0B0B0F"/>
                </a:solidFill>
                <a:latin typeface="GatoPago Deck Text"/>
                <a:ea typeface="GatoPago Deck Text"/>
                <a:cs typeface="GatoPago Deck Text"/>
              </a:rPr>
              <a:t>en una sola capa de ejecución.</a:t>
            </a:r>
            <a:endParaRPr sz="2025" lang="es-BO" b="0" i="0" kern="1200">
              <a:solidFill>
                <a:srgbClr val="0B0B0F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sp>
        <p:nvSpPr>
          <p:cNvPr id="8" name="Text 8: Infraestructura de pagos entre moneda local y blockchai"/>
          <p:cNvSpPr txBox="1"/>
          <p:nvPr/>
        </p:nvSpPr>
        <p:spPr>
          <a:xfrm>
            <a:off x="800100" y="6419850"/>
            <a:ext cx="91440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Infraestructura de pagos entre moneda local y blockchain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  <p:pic>
        <p:nvPicPr>
          <p:cNvPr id="9" name="El gato de GatoPago, contento" descr="El gato de GatoPago, contento"/>
          <p:cNvPicPr>
            <a:picLocks noChangeAspect="1"/>
          </p:cNvPicPr>
          <p:nvPr/>
        </p:nvPicPr>
        <p:blipFill>
          <a:blip r:embed="rIdGP1" cstate="print"/>
          <a:stretch>
            <a:fillRect/>
          </a:stretch>
        </p:blipFill>
        <p:spPr>
          <a:xfrm>
            <a:off x="9172575" y="2533650"/>
            <a:ext cx="2114550" cy="1993583"/>
          </a:xfrm>
          <a:prstGeom prst="rect">
            <a:avLst/>
          </a:prstGeom>
          <a:ln>
            <a:noFill/>
          </a:ln>
        </p:spPr>
      </p:pic>
      <p:sp>
        <p:nvSpPr>
          <p:cNvPr id="10" name="Text 10: 14"/>
          <p:cNvSpPr txBox="1"/>
          <p:nvPr/>
        </p:nvSpPr>
        <p:spPr>
          <a:xfrm>
            <a:off x="11106150" y="6419850"/>
            <a:ext cx="304800" cy="190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  <a:buNone/>
              <a:def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defRPr>
            </a:pPr>
            <a:r>
              <a:rPr sz="1050" lang="es-BO" b="0" i="0" kern="1200">
                <a:solidFill>
                  <a:srgbClr val="675E57"/>
                </a:solidFill>
                <a:latin typeface="GatoPago Deck Text"/>
                <a:ea typeface="GatoPago Deck Text"/>
                <a:cs typeface="GatoPago Deck Text"/>
              </a:rPr>
              <a:t>14</a:t>
            </a:r>
            <a:endParaRPr sz="1050" lang="es-BO" b="0" i="0" kern="1200">
              <a:solidFill>
                <a:srgbClr val="675E57"/>
              </a:solidFill>
              <a:latin typeface="GatoPago Deck Text"/>
              <a:ea typeface="GatoPago Deck Text"/>
              <a:cs typeface="GatoPago Deck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0B0F"/>
      </a:dk1>
      <a:lt1>
        <a:srgbClr val="FFF8F0"/>
      </a:lt1>
      <a:dk2>
        <a:srgbClr val="675E57"/>
      </a:dk2>
      <a:lt2>
        <a:srgbClr val="FFFDF9"/>
      </a:lt2>
      <a:accent1>
        <a:srgbClr val="F85239"/>
      </a:accent1>
      <a:accent2>
        <a:srgbClr val="CF3433"/>
      </a:accent2>
      <a:accent3>
        <a:srgbClr val="EEE4D8"/>
      </a:accent3>
      <a:accent4>
        <a:srgbClr val="0B0B0F"/>
      </a:accent4>
      <a:accent5>
        <a:srgbClr val="FFF8F0"/>
      </a:accent5>
      <a:accent6>
        <a:srgbClr val="FFFDF9"/>
      </a:accent6>
      <a:hlink>
        <a:srgbClr val="0563C1"/>
      </a:hlink>
      <a:folHlink>
        <a:srgbClr val="954F72"/>
      </a:folHlink>
    </a:clrScheme>
    <a:fontScheme name="Office">
      <a:majorFont>
        <a:latin typeface="GatoPago Deck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toPago Deck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GatoPago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GatoPago — Usa cripto como dinero local</dc:title>
  <dc:subject>Pitch deck GatoPago</dc:subject>
  <dc:creator>OpenAI</dc:creator>
  <cp:lastModifiedBy>OpenAI</cp:lastModifiedBy>
  <cp:revision>1</cp:revision>
  <dcterms:created xsi:type="dcterms:W3CDTF">2026-09-16T00:01:04Z</dcterms:created>
  <dcterms:modified xsi:type="dcterms:W3CDTF">2026-09-16T00:01:04Z</dcterms:modified>
</cp:coreProperties>
</file>