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32eb4051434d5a" /><Relationship Type="http://schemas.openxmlformats.org/officeDocument/2006/relationships/extended-properties" Target="/docProps/app.xml" Id="R2d1cc9cc98a94f93" /><Relationship Type="http://schemas.openxmlformats.org/officeDocument/2006/relationships/officeDocument" Target="/ppt/presentation.xml" Id="Rf8ec3ee02c72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3985fe24824ac4"/>
  </p:sldMasterIdLst>
  <p:notesMasterIdLst>
    <p:notesMasterId xmlns:r="http://schemas.openxmlformats.org/officeDocument/2006/relationships" r:id="Ra3bb75eaccd24d9e"/>
  </p:notesMasterIdLst>
  <p:sldIdLst>
    <p:sldId xmlns:r="http://schemas.openxmlformats.org/officeDocument/2006/relationships" id="256" r:id="R56d9ab2135f84451"/>
    <p:sldId xmlns:r="http://schemas.openxmlformats.org/officeDocument/2006/relationships" id="257" r:id="Raef5cf496a984491"/>
    <p:sldId xmlns:r="http://schemas.openxmlformats.org/officeDocument/2006/relationships" id="258" r:id="R2a0e71565b144664"/>
    <p:sldId xmlns:r="http://schemas.openxmlformats.org/officeDocument/2006/relationships" id="259" r:id="R6e773f0a76d94321"/>
    <p:sldId xmlns:r="http://schemas.openxmlformats.org/officeDocument/2006/relationships" id="260" r:id="Rd6ac88f3026b4650"/>
    <p:sldId xmlns:r="http://schemas.openxmlformats.org/officeDocument/2006/relationships" id="261" r:id="R2af0bc0e625144e7"/>
    <p:sldId xmlns:r="http://schemas.openxmlformats.org/officeDocument/2006/relationships" id="262" r:id="R843e4dd2cfea48d4"/>
    <p:sldId xmlns:r="http://schemas.openxmlformats.org/officeDocument/2006/relationships" id="263" r:id="R9ede44355c3f4f8f"/>
    <p:sldId xmlns:r="http://schemas.openxmlformats.org/officeDocument/2006/relationships" id="264" r:id="R3ee7dde2679140ff"/>
    <p:sldId xmlns:r="http://schemas.openxmlformats.org/officeDocument/2006/relationships" id="265" r:id="Rf076297e2af34127"/>
    <p:sldId xmlns:r="http://schemas.openxmlformats.org/officeDocument/2006/relationships" id="266" r:id="Rf8f1d23bb7bf4a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985fe24824ac4" /><Relationship Type="http://schemas.openxmlformats.org/officeDocument/2006/relationships/theme" Target="/ppt/theme/theme1.xml" Id="R80f4747bb19a41b7" /><Relationship Type="http://schemas.openxmlformats.org/officeDocument/2006/relationships/notesMaster" Target="/ppt/notesMasters/notesMaster1.xml" Id="Ra3bb75eaccd24d9e" /><Relationship Type="http://schemas.openxmlformats.org/officeDocument/2006/relationships/presProps" Target="/ppt/presProps.xml" Id="Rcd89e00d9b5c484b" /><Relationship Type="http://schemas.openxmlformats.org/officeDocument/2006/relationships/viewProps" Target="/ppt/viewProps.xml" Id="R7ca67e5f4ca54567" /><Relationship Type="http://schemas.openxmlformats.org/officeDocument/2006/relationships/tableStyles" Target="/ppt/tableStyles.xml" Id="R948d0ecc707145e8" /><Relationship Type="http://schemas.openxmlformats.org/officeDocument/2006/relationships/slide" Target="/ppt/slides/slide1.xml" Id="R56d9ab2135f84451" /><Relationship Type="http://schemas.openxmlformats.org/officeDocument/2006/relationships/slide" Target="/ppt/slides/slide2.xml" Id="Raef5cf496a984491" /><Relationship Type="http://schemas.openxmlformats.org/officeDocument/2006/relationships/slide" Target="/ppt/slides/slide3.xml" Id="R2a0e71565b144664" /><Relationship Type="http://schemas.openxmlformats.org/officeDocument/2006/relationships/slide" Target="/ppt/slides/slide4.xml" Id="R6e773f0a76d94321" /><Relationship Type="http://schemas.openxmlformats.org/officeDocument/2006/relationships/slide" Target="/ppt/slides/slide5.xml" Id="Rd6ac88f3026b4650" /><Relationship Type="http://schemas.openxmlformats.org/officeDocument/2006/relationships/slide" Target="/ppt/slides/slide6.xml" Id="R2af0bc0e625144e7" /><Relationship Type="http://schemas.openxmlformats.org/officeDocument/2006/relationships/slide" Target="/ppt/slides/slide7.xml" Id="R843e4dd2cfea48d4" /><Relationship Type="http://schemas.openxmlformats.org/officeDocument/2006/relationships/slide" Target="/ppt/slides/slide8.xml" Id="R9ede44355c3f4f8f" /><Relationship Type="http://schemas.openxmlformats.org/officeDocument/2006/relationships/slide" Target="/ppt/slides/slide9.xml" Id="R3ee7dde2679140ff" /><Relationship Type="http://schemas.openxmlformats.org/officeDocument/2006/relationships/slide" Target="/ppt/slides/slide10.xml" Id="Rf076297e2af34127" /><Relationship Type="http://schemas.openxmlformats.org/officeDocument/2006/relationships/slide" Target="/ppt/slides/slide11.xml" Id="Rf8f1d23bb7bf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c9252166b894b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0421e121d84138" /><Relationship Type="http://schemas.openxmlformats.org/officeDocument/2006/relationships/notesMaster" Target="/ppt/notesMasters/notesMaster1.xml" Id="R4217b4e1cac74d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b679bff8014353" /><Relationship Type="http://schemas.openxmlformats.org/officeDocument/2006/relationships/notesMaster" Target="/ppt/notesMasters/notesMaster1.xml" Id="R2e08ae849e3d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a4b370f6994799" /><Relationship Type="http://schemas.openxmlformats.org/officeDocument/2006/relationships/notesMaster" Target="/ppt/notesMasters/notesMaster1.xml" Id="R54e15bb338c140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4916b146d4e95" /><Relationship Type="http://schemas.openxmlformats.org/officeDocument/2006/relationships/notesMaster" Target="/ppt/notesMasters/notesMaster1.xml" Id="R0e82a5af9ade46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a4a86dd1854609" /><Relationship Type="http://schemas.openxmlformats.org/officeDocument/2006/relationships/notesMaster" Target="/ppt/notesMasters/notesMaster1.xml" Id="R4602340b8b754e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c404154ed64c19" /><Relationship Type="http://schemas.openxmlformats.org/officeDocument/2006/relationships/notesMaster" Target="/ppt/notesMasters/notesMaster1.xml" Id="R52c6c3e561fc46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c3c204ac814366" /><Relationship Type="http://schemas.openxmlformats.org/officeDocument/2006/relationships/notesMaster" Target="/ppt/notesMasters/notesMaster1.xml" Id="R6b3c031c29b6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afce95c69344fe" /><Relationship Type="http://schemas.openxmlformats.org/officeDocument/2006/relationships/notesMaster" Target="/ppt/notesMasters/notesMaster1.xml" Id="Rf6c8e92a921e4e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1d0e879e9f4347" /><Relationship Type="http://schemas.openxmlformats.org/officeDocument/2006/relationships/notesMaster" Target="/ppt/notesMasters/notesMaster1.xml" Id="R57ccb69df22f4e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33d4e64b9e4881" /><Relationship Type="http://schemas.openxmlformats.org/officeDocument/2006/relationships/notesMaster" Target="/ppt/notesMasters/notesMaster1.xml" Id="R399a49f4828447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d37123ae2542b4" /><Relationship Type="http://schemas.openxmlformats.org/officeDocument/2006/relationships/notesMaster" Target="/ppt/notesMasters/notesMaster1.xml" Id="R63be56ac96b241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8ce2e71914ee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da406f2d74d4fe8" /><Relationship Type="http://schemas.openxmlformats.org/officeDocument/2006/relationships/slideLayout" Target="/ppt/slideLayouts/slideLayout2.xml" Id="R2917c5479ed2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7c5479ed2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44afca9564023" /><Relationship Type="http://schemas.openxmlformats.org/officeDocument/2006/relationships/image" Target="/ppt/media/image.png" Id="Rbbce36121a3b46b9" /><Relationship Type="http://schemas.openxmlformats.org/officeDocument/2006/relationships/image" Target="/ppt/media/image2.png" Id="R63d252851098403f" /><Relationship Type="http://schemas.openxmlformats.org/officeDocument/2006/relationships/notesSlide" Target="/ppt/notesSlides/notesSlide1.xml" Id="R6b5df2245d8847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0642591a084c33" /><Relationship Type="http://schemas.openxmlformats.org/officeDocument/2006/relationships/notesSlide" Target="/ppt/notesSlides/notesSlide2.xml" Id="R07e7366ab6234e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81d8721b91428f" /><Relationship Type="http://schemas.openxmlformats.org/officeDocument/2006/relationships/notesSlide" Target="/ppt/notesSlides/notesSlide3.xml" Id="Rd05d3b84f1374e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9d78715ae14dff" /><Relationship Type="http://schemas.openxmlformats.org/officeDocument/2006/relationships/notesSlide" Target="/ppt/notesSlides/notesSlide4.xml" Id="R8326594afd284b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ce4e0c8bf0400f" /><Relationship Type="http://schemas.openxmlformats.org/officeDocument/2006/relationships/image" Target="/ppt/media/image3.png" Id="Rfb22e0a70ae44047" /><Relationship Type="http://schemas.openxmlformats.org/officeDocument/2006/relationships/image" Target="/ppt/media/image4.png" Id="R6030f5118d1b4310" /><Relationship Type="http://schemas.openxmlformats.org/officeDocument/2006/relationships/image" Target="/ppt/media/image5.png" Id="R01a2077dfbd244bf" /><Relationship Type="http://schemas.openxmlformats.org/officeDocument/2006/relationships/image" Target="/ppt/media/image6.png" Id="R414e619ac16a4c45" /><Relationship Type="http://schemas.openxmlformats.org/officeDocument/2006/relationships/notesSlide" Target="/ppt/notesSlides/notesSlide5.xml" Id="Reaf79e55c9cc44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824e81b8a94864" /><Relationship Type="http://schemas.openxmlformats.org/officeDocument/2006/relationships/notesSlide" Target="/ppt/notesSlides/notesSlide6.xml" Id="R7a5b278316c943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3c3dfff314cc9" /><Relationship Type="http://schemas.openxmlformats.org/officeDocument/2006/relationships/notesSlide" Target="/ppt/notesSlides/notesSlide7.xml" Id="Rf3fb054be7ca47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89df565c747b5" /><Relationship Type="http://schemas.openxmlformats.org/officeDocument/2006/relationships/notesSlide" Target="/ppt/notesSlides/notesSlide8.xml" Id="R069499159e9c43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42be1dde546cf" /><Relationship Type="http://schemas.openxmlformats.org/officeDocument/2006/relationships/notesSlide" Target="/ppt/notesSlides/notesSlide9.xml" Id="R199ebc0626284a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b77e6fab5648b1" /><Relationship Type="http://schemas.openxmlformats.org/officeDocument/2006/relationships/notesSlide" Target="/ppt/notesSlides/notesSlide10.xml" Id="Rb4af56f7b87746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cd847780f4af0" /><Relationship Type="http://schemas.openxmlformats.org/officeDocument/2006/relationships/image" Target="/ppt/media/image7.png" Id="Rd36737202f524661" /><Relationship Type="http://schemas.openxmlformats.org/officeDocument/2006/relationships/notesSlide" Target="/ppt/notesSlides/notesSlide11.xml" Id="R6a32c45896b94e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38FA5F2-371D-46C0-BCCB-31002D2B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e36121a3b46b9"/>
          <a:stretch xmlns:a="http://schemas.openxmlformats.org/drawingml/2006/main"/>
        </p:blipFill>
        <p:spPr>
          <a:xfrm xmlns:a="http://schemas.openxmlformats.org/drawingml/2006/main">
            <a:off x="723900" y="648822"/>
            <a:ext cx="507873" cy="58830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1A9CA-7DBD-4982-9788-55304A2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723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91AB-4AF2-4A09-B36F-754BCF06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6192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43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Mueve dinero digital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43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como mandar un mensaje.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628EA-DC8C-421C-BEF3-D4D3F590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4290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Cobra con links. Paga con QR. Envía a usernames. Ahora sobre Arbitrum.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DF452-3924-4F69-B310-1D5CD9B0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23862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USDC + passkeys + Arbitrum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2087D-AD86-47C3-A120-E6100B9C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4238625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No custodial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682DC-57C2-4EEE-80E2-0A6B09C9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238625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A6BC"/>
          </a:solidFill>
          <a:ln xmlns:a="http://schemas.openxmlformats.org/drawingml/2006/main" w="0"/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Sin frases raras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BD32B-38B6-447A-A919-8189E52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123950"/>
            <a:ext cx="2240280" cy="4480560"/>
          </a:xfrm>
          <a:prstGeom xmlns:a="http://schemas.openxmlformats.org/drawingml/2006/main" prst="roundRect">
            <a:avLst>
              <a:gd name="adj" fmla="val 340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1905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7AA91-5FDE-4248-B2BA-67662A35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0568" y="1323975"/>
            <a:ext cx="1960245" cy="4080510"/>
          </a:xfrm>
          <a:prstGeom xmlns:a="http://schemas.openxmlformats.org/drawingml/2006/main" prst="roundRect">
            <a:avLst>
              <a:gd name="adj" fmla="val 3887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9525"/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252851098403f"/>
          <a:stretch xmlns:a="http://schemas.openxmlformats.org/drawingml/2006/main"/>
        </p:blipFill>
        <p:spPr>
          <a:xfrm xmlns:a="http://schemas.openxmlformats.org/drawingml/2006/main">
            <a:off x="8490585" y="1504416"/>
            <a:ext cx="189224" cy="21919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19881-B580-42BC-BDC9-5CA61E6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0623" y="1513999"/>
            <a:ext cx="920115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4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@parmelia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AB222-0D8E-4306-9E66-3C5D2DDF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0763" y="1463993"/>
            <a:ext cx="280035" cy="280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A6BC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C2C68-8D8C-412F-A95A-24547610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0588" y="2004060"/>
            <a:ext cx="1640205" cy="112014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B1A37-4053-41FD-B7A1-3FC5D5EA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0640" y="2104073"/>
            <a:ext cx="72009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866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866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USDC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DA4FC-BC5D-421B-9890-D1CFD34D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0618" y="2584133"/>
            <a:ext cx="1160145" cy="420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678" b="1">
                <a:solidFill>
                  <a:srgbClr val="F5F5F3"/>
                </a:solidFill>
                <a:latin typeface="Segoe UI"/>
                <a:ea typeface="Segoe UI"/>
                <a:cs typeface="Segoe UI"/>
              </a:defRPr>
            </a:pPr>
            <a:r>
              <a:rPr sz="2678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$428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7A45E-6D18-4CEF-8910-168F5C7F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0588" y="3264218"/>
            <a:ext cx="480060" cy="500063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1D1D21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2ED6F-C33C-480F-83A0-85ACD290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0608" y="3384233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A6BC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C7349-44A0-4AEB-9DD6-A9EF004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0590" y="3594259"/>
            <a:ext cx="44005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69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669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Cobrar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9B06B-0E2E-4A83-9E65-4AA372E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0658" y="3264218"/>
            <a:ext cx="480060" cy="500063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1D1D21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869F8-4D8C-4BF1-887C-CCCD5E3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0678" y="3384233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9C9D0-D21F-437F-8046-DA4B2B17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0660" y="3594259"/>
            <a:ext cx="44005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69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669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Pagar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D0476-E93D-4EAF-8C50-8F2DE4F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0728" y="3264218"/>
            <a:ext cx="480060" cy="500063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1D1D21"/>
          </a:solidFill>
          <a:ln xmlns:a="http://schemas.openxmlformats.org/drawingml/2006/main" w="0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C580A-6269-470E-BB97-AC739FEB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0747" y="3384233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663F8-62CB-4DB4-AA56-4409C4E4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0730" y="3594259"/>
            <a:ext cx="44005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69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669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Enviar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9FB0C-61E7-42E6-8F3F-391D8CC2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0588" y="4044315"/>
            <a:ext cx="1640205" cy="280035"/>
          </a:xfrm>
          <a:prstGeom xmlns:a="http://schemas.openxmlformats.org/drawingml/2006/main" prst="roundRect">
            <a:avLst>
              <a:gd name="adj" fmla="val 27211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3527E-65CE-475F-B6CB-C89A7ADF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603" y="4104323"/>
            <a:ext cx="120015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48" b="0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Recibido +25 USDC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DFA59-E9E0-4350-A7E7-233DA978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0588" y="4424363"/>
            <a:ext cx="1640205" cy="280035"/>
          </a:xfrm>
          <a:prstGeom xmlns:a="http://schemas.openxmlformats.org/drawingml/2006/main" prst="roundRect">
            <a:avLst>
              <a:gd name="adj" fmla="val 27211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0"/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1BCBA-4323-4D35-B187-AE8816EF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603" y="4484370"/>
            <a:ext cx="120015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48" b="0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Enviado -8 USDC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8B560B-C458-4128-9C84-FD33A07A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0588" y="4804410"/>
            <a:ext cx="1640205" cy="280035"/>
          </a:xfrm>
          <a:prstGeom xmlns:a="http://schemas.openxmlformats.org/drawingml/2006/main" prst="roundRect">
            <a:avLst>
              <a:gd name="adj" fmla="val 27211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0"/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F1AE65-978B-4F00-866B-014024C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603" y="4864418"/>
            <a:ext cx="120015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48" b="0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Link pagado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1277B5-18C6-4C51-A947-CA567510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47687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27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Daniel Cueto</a:t>
            </a:r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27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Santa Cruz, Bolivia</a:t>
            </a:r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27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parmelia.me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50292-2369-48E0-BFD8-BED5627F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12000"/>
            </a:srgbClr>
          </a:solidFill>
          <a:ln xmlns:a="http://schemas.openxmlformats.org/drawingml/2006/main" w="0"/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68B3BD-C36D-45D6-A7A8-E2399B8B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428AA7-CCF9-4910-81E6-E97A3651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Deck definitivo Parmelia, junio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433640-BA28-4A8B-9645-6E0D68C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66066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A15BC01-E4C4-48CA-B376-A49D74F5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81B058-BCF4-4D53-AE32-0189272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08A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A78C09-624A-4360-884B-E710DACA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59B71-E571-4D48-AD35-3018EC6E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581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60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Acceder y usar dólares digitales sigue siendo un dolor.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D7B97-449B-4477-ABDB-B345301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7813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4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En Bolivia el usuario ya conoce el QR y necesita dólares para internet; lo que no quiere es aprender redes, gas o direcciones.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B899-471C-4210-B3D1-ECF0E119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1257300"/>
            <a:ext cx="4095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FF653-EF28-43A6-8DE2-C191A2D5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1543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F07F0-5C44-46F8-9949-037540A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Tarjetas limitadas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87535-E916-4695-86CE-EFE85CB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17621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Compras online y pagos al exterior se vuelven impredecibles.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3E988-64CB-4311-AD58-C1EF5A05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609850"/>
            <a:ext cx="4095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3C3FC-C9FB-4720-A674-882B315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EC594-61E1-4DF5-95BA-503A425B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800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Dólar paralelo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02C35-3858-4099-8B2F-EDBB012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1146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La gente busca dólares digitales como alternativa práctica.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089D7-C613-48F5-899E-B96F183F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3962400"/>
            <a:ext cx="4095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AD908-9240-47BD-8A2A-07B150DE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4248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A6BC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9FC84-67E3-4BBE-A78A-F2D569E3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415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Cripto fricciona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596F5-C7AA-488B-B550-AC26427A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44672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Redes, fees, wallets, direcciones y miedo a equivocarse.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1D64A-EF73-4BD0-BB9F-97AFFB65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9530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210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El problema no es tener blockchain. Es convertirla en una acción cotidiana.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0AA5E-A617-49B5-814F-AD69CD9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30F">
              <a:alpha val="14000"/>
            </a:srgbClr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2A2D2-8AA6-4D5F-9741-8CC78A19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9465B-5764-42B5-BD6A-F9351A2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Fuente: documentos internos Parmelia, junio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0CD37-AF77-4496-958F-01280FAB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6924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592926C-B850-4B99-8490-F2694352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74E3AE-B283-49A4-A8FE-66B1E2F4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E3F4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9AB9B50-3DD9-48C4-BB04-DF3FC4E9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POR QUÉ AHORA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29A8F-F48F-4373-96CC-6CC7478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90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La infraestructura ya existe. La experiencia todavía 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1D84F-3A4D-46C5-9E94-249BB76C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4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Passkeys, cuentas inteligentes, dólares digitales y redes baratas permiten esconder la complejidad sin renunciar al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B33AC-B83D-4515-AA6F-2FDDB6E7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195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6FA5A-1FF3-4A7D-9E06-E1BAC18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848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F4A9CF"/>
                </a:solidFill>
                <a:latin typeface="Segoe UI"/>
                <a:ea typeface="Segoe UI"/>
                <a:cs typeface="Segoe UI"/>
              </a:rPr>
              <a:t>Huella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24816-796D-4617-99B1-8C65D0B8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2005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entrar y confirmar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46FAD-524B-4D20-8F50-A6AD56D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41529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28000"/>
            </a:srgbClr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CD757-29AD-44C9-AE47-A21A716F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>
              <a:alpha val="28000"/>
            </a:srgbClr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F6718-CEA2-40AA-88DF-3A68B590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36195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79398-2D33-43E4-9ED3-196EFEE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3848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DED9A6"/>
                </a:solidFill>
                <a:latin typeface="Segoe UI"/>
                <a:ea typeface="Segoe UI"/>
                <a:cs typeface="Segoe UI"/>
              </a:rPr>
              <a:t>USDC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8A2AF-2161-4D3E-8261-B37DFF1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42005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dolar digital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87716-0730-4C62-8B04-E4E6AA2D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41529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28000"/>
            </a:srgbClr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A6A78-167C-4395-8F41-5356850B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675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>
              <a:alpha val="28000"/>
            </a:srgbClr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E08E8-6944-4551-B4A3-6993BF15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6195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93F75-65AF-44D7-8253-19F77862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3848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9CE3F4"/>
                </a:solidFill>
                <a:latin typeface="Segoe UI"/>
                <a:ea typeface="Segoe UI"/>
                <a:cs typeface="Segoe UI"/>
              </a:rPr>
              <a:t>Arbitrum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E9D88-427B-47D6-9749-F37992FB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42005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red actual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BB774-17A3-453B-B540-B0027D7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41529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28000"/>
            </a:srgbClr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25E4D-33BA-4AD1-8334-DDDF6755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975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>
              <a:alpha val="28000"/>
            </a:srgbClr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8C6C9-55E7-4A5F-9EB4-7CA12813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36195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F1A6F-B5A9-4430-B5C9-F504CD2D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3848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5D17C-07CD-4823-B941-84556F61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42005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experiencia humana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28B96-9D6B-452C-BDFC-3F02AC3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238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5F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Lo técnico queda debajo. En la cara del usuario solo aparece: cobrar, pagar, enviar.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B22D5-632E-4B37-9A9B-54A90C1B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12000"/>
            </a:srgbClr>
          </a:solidFill>
          <a:ln xmlns:a="http://schemas.openxmlformats.org/drawingml/2006/main" w="0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3F45BF-25E0-42F8-BEAF-5E445CF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BBB0A-D1DE-4548-A43D-56DD5878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Fuente: documentos internos Parmelia, junio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AF329-9664-4359-88F9-D3CD417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17056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BA889C-0058-428E-9E10-4A193D47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CCFC68E-6397-438D-92CF-476CBA8A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7E1F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042580-7B49-444F-B9CE-CD680C5F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B59EB-86A7-45DA-B059-CD080A8C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90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Tres acciones reemplazan toda la jerga cripto.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AD8D4-F0FE-4727-8448-F7AE3A04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90512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EA6BC"/>
          </a:solidFill>
          <a:ln xmlns:a="http://schemas.openxmlformats.org/drawingml/2006/main" w="9525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7A118-3C8E-4DA8-AE87-9D9F47B3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A265A-BDD6-4427-904A-93886261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35433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Cobra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35EF-A109-4DA2-B81D-81760DC6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4248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35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Crea un link o QR y compartelo donde ya hablas.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6F78B-6DA1-49B1-9FF3-1D9B36C5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90512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A7D4DE"/>
          </a:solidFill>
          <a:ln xmlns:a="http://schemas.openxmlformats.org/drawingml/2006/main" w="9525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C4393-0549-4D34-8B5B-0411901D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F8ACB-DC49-4956-8E87-94EA65DA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35433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Paga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AA8AD-65E9-4FF7-A45D-44D6F87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248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35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Escanea, pega un link o escribe un username.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AC74B-3003-4929-ADB4-D87EAAF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290512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B2773-4599-49E0-90A4-79A123E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61639-693C-44B4-94E9-1844205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5433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Envía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FF19C-F060-46D9-B0C4-B321C0B4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4248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35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Mueve saldo entre usuarios sin comisiones de 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78113-9C11-48FA-A12E-BDE04667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54864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Si sabes mandar un mensaje, sabes usar Parmelia.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BF5C6-D831-4975-B1B8-0A9FB99F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30F">
              <a:alpha val="14000"/>
            </a:srgbClr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4C778-93EF-42F0-984F-747E93F7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1B027-7BC3-4AB7-B0E5-2D2C2D57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Fuente: documentos internos Parmelia, junio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82DF9-6FCF-4797-8E08-174BF338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49859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DDEE74F-B01F-4C57-8CE2-9C90940D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36D7F8-5917-46B1-87FD-102DEAD2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9CF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868A67-DFBD-40EE-96BA-FA23EB69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3A116-0417-41F7-A7CA-D8424B9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4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El flujo se siente como compartir un link, no como operar una wallet.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33FD1-7CF1-4D95-80B1-F142C6B1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95550"/>
            <a:ext cx="16002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19050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1E69-5B85-400F-A3A5-CA0BEC0D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3" y="2638425"/>
            <a:ext cx="1400175" cy="29146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9525"/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2e0a70ae44047"/>
          <a:stretch xmlns:a="http://schemas.openxmlformats.org/drawingml/2006/main"/>
        </p:blipFill>
        <p:spPr>
          <a:xfrm xmlns:a="http://schemas.openxmlformats.org/drawingml/2006/main">
            <a:off x="1076325" y="2767311"/>
            <a:ext cx="135160" cy="15656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97C70-026D-4432-AFC9-FF8688DD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38" y="2774156"/>
            <a:ext cx="657225" cy="15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@daniel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C96DA-CA7A-4B75-8AC5-44F462F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" y="3152775"/>
            <a:ext cx="1071563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Crear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4641E-E229-478E-B1A0-2BA9E622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188" y="3495675"/>
            <a:ext cx="11144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2976B-6211-4A82-B8E4-EA6F52AD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667125"/>
            <a:ext cx="9144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F5F5F3"/>
                </a:solidFill>
                <a:latin typeface="Segoe UI"/>
                <a:ea typeface="Segoe UI"/>
                <a:cs typeface="Segoe UI"/>
              </a:defRPr>
            </a:pPr>
            <a:r>
              <a:rPr sz="1688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25 USDC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722A9-5FBD-401E-AE12-0030DA61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4352925"/>
            <a:ext cx="971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0"/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0A0B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0A0A0B"/>
                </a:solidFill>
                <a:latin typeface="Segoe UI"/>
                <a:ea typeface="Segoe UI"/>
                <a:cs typeface="Segoe UI"/>
              </a:rPr>
              <a:t>Crear link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53198-5826-43B3-9487-ECDB1C3D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4767263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8EF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6DDF0-15A1-4134-8431-5EFD2D37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4895850"/>
            <a:ext cx="857250" cy="15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06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506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app.parmelia.me/p/25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D229F-36A0-40F8-8BCA-D12A387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2495550"/>
            <a:ext cx="16002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1905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DA884-A698-471E-950E-BBDA55B5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663" y="2638425"/>
            <a:ext cx="1400175" cy="29146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9525"/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0f5118d1b4310"/>
          <a:stretch xmlns:a="http://schemas.openxmlformats.org/drawingml/2006/main"/>
        </p:blipFill>
        <p:spPr>
          <a:xfrm xmlns:a="http://schemas.openxmlformats.org/drawingml/2006/main">
            <a:off x="3876675" y="2767311"/>
            <a:ext cx="135160" cy="15656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C04B6-D8CD-4309-AFC7-28E6F1C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0988" y="2774156"/>
            <a:ext cx="657225" cy="15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@maria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EA54E-72F2-43B0-99A5-2CC386D8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3152775"/>
            <a:ext cx="1071563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Pago seguro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D025E-ACD2-4FF1-9765-B1E9E91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9538" y="3467100"/>
            <a:ext cx="11144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B511E-1FEC-4100-A5D9-61FBC695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3581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55797-7CC2-4060-BA0E-28C6C24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9563" y="3995738"/>
            <a:ext cx="714375" cy="15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31" b="1">
                <a:solidFill>
                  <a:srgbClr val="F5F5F3"/>
                </a:solidFill>
                <a:latin typeface="Segoe UI"/>
                <a:ea typeface="Segoe UI"/>
                <a:cs typeface="Segoe UI"/>
              </a:defRPr>
            </a:pPr>
            <a:r>
              <a:rPr sz="731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@maria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C97F8-165E-4C99-B3BB-6036D93D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4167188"/>
            <a:ext cx="91440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ED9A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ED9A6"/>
                </a:solidFill>
                <a:latin typeface="Segoe UI"/>
                <a:ea typeface="Segoe UI"/>
                <a:cs typeface="Segoe UI"/>
              </a:rPr>
              <a:t>25 USDC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3F439-CFC0-4D53-A299-9D38F10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6688" y="4681538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619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619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Pagar con huella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BEA30-BE08-48F6-9382-359EF2C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5053013"/>
            <a:ext cx="9144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06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506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Sin comisiones de 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3C039-36B5-4840-B36B-9FDBEB60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495550"/>
            <a:ext cx="16002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1905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AEB20-E38A-4E9F-986B-66A4B0B6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7013" y="2638425"/>
            <a:ext cx="1400175" cy="29146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9525"/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2077dfbd244bf"/>
          <a:stretch xmlns:a="http://schemas.openxmlformats.org/drawingml/2006/main"/>
        </p:blipFill>
        <p:spPr>
          <a:xfrm xmlns:a="http://schemas.openxmlformats.org/drawingml/2006/main">
            <a:off x="6677025" y="2767311"/>
            <a:ext cx="135160" cy="15656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4CDFF-18D7-46ED-BE4F-03FD34B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1338" y="2774156"/>
            <a:ext cx="657225" cy="15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@maria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3C44D7-07C9-4038-80F5-41E922CF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9888" y="3195638"/>
            <a:ext cx="1114425" cy="15716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0"/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e619ac16a4c45"/>
          <a:stretch xmlns:a="http://schemas.openxmlformats.org/drawingml/2006/main"/>
        </p:blipFill>
        <p:spPr>
          <a:xfrm xmlns:a="http://schemas.openxmlformats.org/drawingml/2006/main">
            <a:off x="7162800" y="3367549"/>
            <a:ext cx="208883" cy="241964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776DF-4019-4D0D-AC72-7D32B6E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9913" y="3681413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E3F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9CE3F4"/>
                </a:solidFill>
                <a:latin typeface="Segoe UI"/>
                <a:ea typeface="Segoe UI"/>
                <a:cs typeface="Segoe UI"/>
              </a:rPr>
              <a:t>Listo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1E3A7-158C-4805-B7C2-67104A2F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4188" y="3952875"/>
            <a:ext cx="8858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5F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25 USDC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DC15BA-C562-4955-8EB8-4720CA3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4338638"/>
            <a:ext cx="857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34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534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De @daniel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6C5A16-CD51-4EBB-B9D5-DBF4BF6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4495800"/>
            <a:ext cx="857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34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534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Para @maria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4EEC39-9950-4E96-95A9-725FC4F6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4652963"/>
            <a:ext cx="857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34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534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Comprobante en 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A33B54-7C9B-4FF5-8E8E-837A44D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3257550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9C2303-4EDB-4F4C-B088-15E2DF5E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3718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1C0856-1CFE-4266-8190-910F393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933" y="33718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12714-08A9-437E-BBE6-49D6418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6067" y="33718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779676-3BC2-40C9-8E4B-09E5B4C7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2333" y="33718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A08B24-F097-4E9E-BBB5-E3618D2E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600" y="33718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F89629-B612-40D4-94D9-EE3DE0AA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1733" y="33718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1A8050-C082-48E8-989C-27254699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867" y="33718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4BF93B-0152-4D0C-84FC-ECCE7884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4649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5E9439-BE76-4F8D-A497-5365E248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6067" y="34649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F2D302-B1F8-4CE0-B4AB-BF2BCDF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2333" y="34649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69A26C-3BD2-4633-958C-1DD296F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600" y="34649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21A285-5B26-458C-9657-D43C322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867" y="34649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A56D82-D7CE-4E49-BA58-7C8A2EB7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5581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E781E3-21E9-4C7E-A004-5FBAE6AA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933" y="35581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0720A0-ACEF-4CE6-A108-64932794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6067" y="35581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32594C-F3B4-4348-9D6F-4C0EADF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2333" y="35581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AFAB36-2B9B-4C8C-B855-8AE78983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5467" y="35581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2049A2-2FB5-43AA-81FC-806D993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600" y="35581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2E96A2-7816-4C68-8F7F-751AF8B8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1733" y="35581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5488FB-B60B-4424-AC30-6FF36C0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867" y="35581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A5B2D8-F9FB-4309-AE5D-EA86350A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2333" y="36512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87B61F-B6C4-4570-AFA3-588A1EB6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7443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D6150A-AC7C-4BC7-943E-F88E80A7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933" y="37443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3DA43F-EE43-4E46-8811-315C1EE8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6067" y="37443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6CD7D9-3B29-41E7-9668-61C7D19B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9200" y="37443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24D14F-0815-4B68-99D1-BA336BA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2333" y="37443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C2259B-36F1-4EAE-B308-F031ADC2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600" y="37443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9DC071-4566-4CD2-83C4-0F6F893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867" y="37443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6C5CFB-2E2B-4A8F-B81C-AF0D4061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6067" y="38375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C36598-CCEE-4958-9D34-83ABDC22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2333" y="38375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411A35-604D-45BD-BB50-DD3B1E13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5467" y="38375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6065B5-6DBA-437C-B58D-4C46A07D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600" y="38375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03B0246-58F1-44F1-B7DA-20347A8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867" y="38375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BA4660-0051-4AF0-A9D4-4C788F38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9306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94BF04-77E1-4906-B73D-963B472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933" y="39306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9CF222-1BE0-40E3-B072-D1A12EFC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6067" y="39306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5431DA-2BED-48C7-9DC8-AEE6AB3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2333" y="39306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6451EE-C5C7-4E65-9C3E-0411B8C2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600" y="39306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5D78F85-4902-4CD8-AF86-5EE3A2F0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1733" y="39306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623F9A2-738E-46AE-993B-B3AB4C43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867" y="3930650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222182-5DEF-43A6-942F-64A0B08B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40237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1B37D1-BEED-4BE3-8C50-A053E40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6067" y="40237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DEB709A-2366-4CB0-98E1-246599E2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600" y="40237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E09D30-EF85-4381-BC08-45D5BE1A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867" y="4023783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031011-674C-418C-A7EA-013FD38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41169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62CB4D-C808-4A57-8AA9-F3F8A6A5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933" y="41169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B8FDCE-7316-4F70-B9D4-E4DF1597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6067" y="41169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823DDDD-9AA9-4FD1-AFCF-8C9E576A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9200" y="41169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6DA170-6C5B-401B-A660-38B38215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2333" y="41169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9CC4B4-4802-4A84-A4DC-92229643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5467" y="41169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52057AE-CA7F-4033-8A71-464DD1C5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600" y="41169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C5ED32-AD73-4120-B6B6-70098A5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867" y="4116917"/>
            <a:ext cx="76369" cy="76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CC6D74B-79EC-450A-83AD-A9584A4D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79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A9C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4A9CF"/>
                </a:solidFill>
                <a:latin typeface="Segoe UI"/>
                <a:ea typeface="Segoe UI"/>
                <a:cs typeface="Segoe UI"/>
              </a:rPr>
              <a:t>Link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A2B29C-9F32-4771-B1D1-59E349C0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579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CE3F4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9CE3F4"/>
                </a:solidFill>
                <a:latin typeface="Segoe UI"/>
                <a:ea typeface="Segoe UI"/>
                <a:cs typeface="Segoe UI"/>
              </a:rPr>
              <a:t>Huella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4601F4-79A3-4F80-B501-31A2C6AE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5791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ED9A6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DED9A6"/>
                </a:solidFill>
                <a:latin typeface="Segoe UI"/>
                <a:ea typeface="Segoe UI"/>
                <a:cs typeface="Segoe UI"/>
              </a:rPr>
              <a:t>Comprobante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F007F3-3BB3-4ACB-BF08-89E2D5D6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4629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QR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175EF60-17A0-4CF9-AE76-0B680C81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40957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9CF"/>
          </a:solidFill>
          <a:ln xmlns:a="http://schemas.openxmlformats.org/drawingml/2006/main" w="0"/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E8C33B-1E0C-457D-B3A7-A90BA256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9CF"/>
          </a:solidFill>
          <a:ln xmlns:a="http://schemas.openxmlformats.org/drawingml/2006/main" w="0"/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C497E4-16FD-4EA8-ADEC-F8148C1B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40957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E3F4"/>
          </a:solidFill>
          <a:ln xmlns:a="http://schemas.openxmlformats.org/drawingml/2006/main" w="0"/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4B28A2A-ABC3-41E2-B195-044520DF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E3F4"/>
          </a:solidFill>
          <a:ln xmlns:a="http://schemas.openxmlformats.org/drawingml/2006/main" w="0"/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25E489D-D98F-446E-8DB1-D69BCF9F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0957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16E110-2E63-4EC6-BEFE-AEE8FAEA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975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9FDE0D-7B8E-4FE2-AAC9-7B83B564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12000"/>
            </a:srgbClr>
          </a:solidFill>
          <a:ln xmlns:a="http://schemas.openxmlformats.org/drawingml/2006/main" w="0"/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E523168-12DC-4DFB-9BF4-C00C78C3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3DF71A2-EA9D-4475-B7EC-754BBC12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Mockups editables basados en la app y manual de marca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8C346D9-4519-4F76-A3E0-3AAA1CA2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34443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5C3396-5FF9-4C1F-BC35-AF2CD294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D28DC0-FFF1-4532-B26A-DEBF82A4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AA0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214587-B3DE-44C8-A599-2BAC3DE8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784DE-5CFC-4B2F-A871-63D03D25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37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Ya existe un producto usable; falta convertirlo en aprendizaje de mercado.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1247E-88ED-4480-BE48-A5DF1FE7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4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La red se corrige a Arbitrum. Los términos técnicos quedan para builders, no para la pantalla principal.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7B64B-2B79-431C-B862-353D56D8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3067050"/>
            <a:ext cx="46291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A067-EB57-4B12-8FC9-E135A459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3067050"/>
            <a:ext cx="46291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327D8-7FEB-45AB-83B7-13C7A45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333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Hoy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E9C0B-4678-4591-A5AF-C7DA2D5F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3333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Después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75F6B-2A4B-4C47-9379-1AF2D335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AA0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6B214-8F25-427D-A71C-1DA39D3B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790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Login + passkey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2BEA6-A6D1-40DB-9F6F-593A4B59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AA0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70979-A99F-4DC9-8CAE-5567C48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0481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Links de cobro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59019-1B71-467D-BFA9-6E2D666B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AA0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777F3-FE30-4A4F-BBAB-47C3B0C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305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QR y username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5CF32-DE8B-4401-AE09-5CF6C64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AA0"/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46FD0-2932-453A-B9CC-3E2F79A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5624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Historial y comprobantes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9C08D-7A47-4EBB-820C-2FC8F4F8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886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AA0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6DF1B-8FA6-4A4C-83F8-7FC33380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8196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USDC sobre Arbitrum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253BD-095C-4925-B43F-F023663A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08A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8FB99-60DB-40D5-A916-EBC6219F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790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Swaps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A51AF-359F-4C75-90BD-BFDBE4FC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08A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E2186-409E-4BD2-93BF-98617312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40481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Earn opt-in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96D4A-A022-4FDF-A130-352B0AA6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08A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9E060-ABDA-4953-B4FB-4EDC1643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4305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Entrar/salir de redes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F3979-17B7-43EA-823B-9332EADD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08A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4A331-5A58-4755-9DC1-823DF854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45624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Tarjeta de dólares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FFE697-94D9-4097-9395-FBD3C62E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4886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08A"/>
          </a:solidFill>
          <a:ln xmlns:a="http://schemas.openxmlformats.org/drawingml/2006/main" w="0"/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D6904-2EDC-428F-A9B1-91F49347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48196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SDK + fiat QR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1B753-AD8B-4F1C-B516-8A8FF0FE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5600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Correccion clave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EE754-FB7A-4843-B382-98F93AFE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55626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Donde el material antiguo nombraba otra red, la versión final dice Arbitrum y evita depender del token de la red.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2F4AF-43C2-4901-A1FE-B846D487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30F">
              <a:alpha val="14000"/>
            </a:srgbClr>
          </a:solidFill>
          <a:ln xmlns:a="http://schemas.openxmlformats.org/drawingml/2006/main" w="0"/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377B74-93BD-4D8A-A383-15A24466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DFB4E0-CAA0-45CD-9EAB-014EF30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Fuente: documentos internos Parmelia, junio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D0DDD8-357D-4C5E-BB14-5540F05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52315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9E5CD8-BA84-4F84-BF9A-FEDDD629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1C03C6E-6C77-4548-870A-5B1D5BC6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0BC0FB-A9F0-486C-B59B-4EFD2C0C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SENAL TEMPRANA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B7298-3670-42A9-9327-AFA3C655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60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La demanda y el canal ya dieron una primera prueba.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A7611-2008-49D5-9417-78581D9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4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Todavia no es PMF. Es evidencia suficiente para dejar de explicar y empezar a medir.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457D3-4165-4862-B57F-C0415DD1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028950"/>
            <a:ext cx="10706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51519"/>
          </a:solidFill>
          <a:ln xmlns:a="http://schemas.openxmlformats.org/drawingml/2006/main" w="9525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73D86-C236-4B58-9A25-1484BE70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4290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250" b="1">
                <a:solidFill>
                  <a:srgbClr val="9CE3F4"/>
                </a:solidFill>
                <a:latin typeface="Segoe UI"/>
                <a:ea typeface="Segoe UI"/>
                <a:cs typeface="Segoe UI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91E61-867F-4458-8C19-5E1B4CC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2862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usuarios desde un solo TikTok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57303-EEF8-443C-8F86-B015F979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4290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250" b="1">
                <a:solidFill>
                  <a:srgbClr val="F4A9CF"/>
                </a:solidFill>
                <a:latin typeface="Segoe UI"/>
                <a:ea typeface="Segoe UI"/>
                <a:cs typeface="Segoe UI"/>
              </a:rPr>
              <a:t>3.333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4D460-EE7F-4249-8B49-6357503E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42862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vistas sin gasto en 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F1355-B893-4799-9C83-8894DDD9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429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250" b="1">
                <a:solidFill>
                  <a:srgbClr val="DED9A6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EBD4F-B2E5-48AE-B7E7-BD248B68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862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dev shippeo el MVP completo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42E7A-0C79-482C-9A14-2556C059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429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2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Gnosis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F2FB4-283D-4144-9DE3-F26A3094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42862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visto bueno para piloto de tarjeta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CA2A6-BE73-469C-AA21-357738E9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381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5F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Lo siguiente que debe probar el deck: retencion, links pagados y volumen movido.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B127D-800A-494A-8C8A-718D8D4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12000"/>
            </a:srgbClr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54BDD-418E-420A-8EA7-E966D21B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8370E-0C3A-4ED2-B12D-C05E931A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Fuente: documentos internos Parmelia, junio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D2B98-BB25-47A3-ACDB-F5AB381A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81160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161E541-5ED3-472F-9CCE-EAF00006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2E69342-121A-4761-827B-7F0EC377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AA0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DBA49C-364F-4989-B5F2-4B843860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5F0ED-50D6-4275-913D-A7E85BEC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67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Bolivia es el punto de entrada, no el techo.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4371D-B75A-473D-9A64-519417DC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4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El mercado grande es LATAM usando dólares digitales. El primer nicho ganable es local, concreto y distribuible por comunidad.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8782F-BF73-417E-A9DF-9ADDC7D8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1428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8000"/>
            </a:srgbClr>
          </a:solidFill>
          <a:ln xmlns:a="http://schemas.openxmlformats.org/drawingml/2006/main" w="9525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D4F59-D944-4F99-AE5F-02BEBADF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000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76F19-B553-4DA2-9081-5DA6091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4955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A285E-F5EE-4735-B3BA-57DDBA00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028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LATAM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3E49A-CC81-4E7B-8D91-8BA01813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4648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dólares digitales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5B2DD-8B74-422F-8F1B-BFCD0039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2800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Bolivia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58E79-95D3-4AB0-A692-6FA209D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429000"/>
            <a:ext cx="434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6863C-288C-4C63-8128-F1D3CE5E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543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Freelancers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D877D-B323-4E5E-8B17-DB0C1490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35528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cobran online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7C3A4-8342-4162-BFD2-B7ABBC5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434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E72A6-B5E1-4650-83DB-25C0EDDE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17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Comunidades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D9982-3E6F-4633-AB2F-9A18E5CC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1814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eventos y pagos pequeños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E06C7-845E-4622-BDAB-91CC09B5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686300"/>
            <a:ext cx="434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48FCA-D331-4B34-B6CF-72072A8F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800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Comercios digitales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2C7A4-DDF4-4D87-804F-71C2F9D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810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QR + link de cobro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C0DA8-ECA4-4A31-A087-EF963447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30F">
              <a:alpha val="14000"/>
            </a:srgbClr>
          </a:solidFill>
          <a:ln xmlns:a="http://schemas.openxmlformats.org/drawingml/2006/main" w="0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A755B6-1962-4296-BEB7-4D2E7E96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D3B4D-DD90-4B2F-AB78-BE9BB86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Fuente: documentos internos Parmelia, junio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82C38-3FA5-495D-9FFC-898180DA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09315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F7BB48B-C632-4DB0-9F9E-71A36D48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23FDB20-55D9-4CEC-BAEA-4566BCE8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08A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D1EAF9-CE1E-4911-B0B8-CD7B7A16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FOUNDER-MARKET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CCC92-793B-4F13-A81C-49699ECE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60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Daniel combina banca, Web3 y comunidad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37463-BA9C-49E3-8E85-67AD8A70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4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Ese cruce importa: pagos no son solo UI; requieren confianza, estandares financieros y distribucion.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78226-99C8-4052-902B-EFB47936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813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9C0C-B2B3-40A6-A4BF-E73A7400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Web3 full-stack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673F2-7F19-4DF6-A97B-8160A958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40195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MVP no custodial shippeado solo.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E5E76-CCFF-4E8C-8526-4E8538E0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1813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9824D-63D9-4F02-9472-39D9F0D0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Banco Ganadero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60766-AE0F-419E-B414-4CBC6213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0195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Entiende rigor financiero y QR local.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ED5CB-DC4F-4DA3-847C-8064808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1813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EA6BC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65F0B-837B-4449-93FB-6874FFF2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Comunidad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3C624-9C65-46D9-94BB-DD722EA6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40195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Ethereum Bolivia Buildathon + dev3pack UNIFRANZ.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36648-89BF-42BB-94C7-3BF066B8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56007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Canal directo para los primeros usuarios y criterio técnico para no vender humo.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69A83-279E-43B5-B2F4-E47CCC90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30F">
              <a:alpha val="14000"/>
            </a:srgbClr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C386D-422F-4585-B5B7-D6C5FFD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21666-45D9-4038-A525-BA47D7B4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Fuente: documentos internos Parmelia, junio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FD48A-F492-4CED-8496-5A5E966E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95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66717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B87B806-6CDD-4F21-B287-D3EF0CBC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9D2ECE-6673-48E9-A4E0-508AB29E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9CF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1ABAEC-86E6-40E8-9460-942EC383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MODELO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823CC-361C-4855-8C4C-791BC87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6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Monetizar el valor agregado, no la fricción.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58A3F-2A9E-4FDE-871C-F195897F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4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Enviar entre usuarios debe sentirse gratis. El negocio aparece cuando Parmelia resuelve conversión, rendimiento o integración.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C07D1-A624-48BA-BE66-9CC8538E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257550"/>
            <a:ext cx="20764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D1973-D294-4001-98B7-F35BB257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E3F4"/>
          </a:solidFill>
          <a:ln xmlns:a="http://schemas.openxmlformats.org/drawingml/2006/main" w="0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4CE94-C7AF-4AEC-8D0C-5716AD85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4019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Swaps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C576A-EA0D-44EC-AC07-9DD4AF42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440055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1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fee al cambiar entre activos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44382-B42E-43A8-B861-4152588B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3257550"/>
            <a:ext cx="20764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57D42-570D-4448-8B87-B7A96B60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9CF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196C0-F7A8-4C1F-8F3E-9ADCE5C0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4019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Entre redes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EDBDD-AE4E-40E2-AF9A-7791E903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440055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1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fee de conveniencia por ruta automática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F2F59-68DB-4356-92FE-2FF85A3B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257550"/>
            <a:ext cx="20764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36FC2-F2C1-4618-85EE-5B2BEC80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ABF44-901C-4702-8659-3328C49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019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Earn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07542-C998-4FC3-9D3B-748FF93D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40055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1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participación con consentimiento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7677F-2A2A-4BA5-9C4A-A896678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257550"/>
            <a:ext cx="20764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DB184-D109-4C2A-AEDB-AC505527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A78F9-6FF4-4184-BE4C-45ECA7DC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4019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SDK / Fiat QR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D9880-C163-4533-B008-8403E3C4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440055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1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integraciones para comercios y apps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9DF11-C296-492A-BD85-54D42C10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5429250"/>
            <a:ext cx="902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5F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La tesis: Parmelia cobra cuando reduce pasos y riesgo, no cuando castiga el envío básico.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007FF-8151-435B-AC4C-FAE2A5B9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12000"/>
            </a:srgbClr>
          </a:solidFill>
          <a:ln xmlns:a="http://schemas.openxmlformats.org/drawingml/2006/main" w="0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70BAA-28C4-4D1F-9704-FA6C9600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C6D42-A8DD-4157-B267-82EA131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Fuente: documentos internos Parmelia, junio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06566-6A6E-47E8-AF1E-5D9C5078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094220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B01C4FA-6C43-46F6-A9C2-711ED71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/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3202EB-DCB5-4FC4-BF84-3E42D9CE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A6"/>
          </a:solidFill>
          <a:ln xmlns:a="http://schemas.openxmlformats.org/drawingml/2006/main" w="0"/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7FA1CA-9B4B-47D0-86DD-43A262DC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ROADMAP +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D63AE-B9E5-4E04-AAF1-0A60490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7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El siguiente hito es validar pagos reales sobre Arbitrum.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48892-1C63-4319-AE05-C7016FF8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425" b="0">
                <a:solidFill>
                  <a:srgbClr val="F5F5F3">
                    <a:alpha val="62000"/>
                  </a:srgbClr>
                </a:solidFill>
                <a:latin typeface="Segoe UI"/>
                <a:ea typeface="Segoe UI"/>
                <a:cs typeface="Segoe UI"/>
              </a:rPr>
              <a:t>Buscamos primeros usuarios, un design partner local y apoyo para escalar gas/infra del piloto.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731B3-A5A6-4A18-8040-F30946AA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524250"/>
            <a:ext cx="1181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ED9A6"/>
          </a:solidFill>
          <a:ln xmlns:a="http://schemas.openxmlformats.org/drawingml/2006/main" w="9525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88159-EE5F-4275-8987-D2C5D539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714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B695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C9BA5-CB1E-4C57-B762-8435D01C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000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Arbitrum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B0EF6-2A8E-4EBD-A01A-040A932E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39814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0BFAD-2B9C-4222-BC0B-BFB339A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D0505-4AF4-47D5-96C9-A0C0B285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3524250"/>
            <a:ext cx="1181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6E8B0-3300-4831-BF08-65DEB6F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3714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F4DF4-968E-44A5-8702-6141FDA3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4000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Swaps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72B17-4C4D-45E1-A3D2-72E77230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39814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9C435-B24D-49C2-A5FD-11BB6523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FC8D0-0BC5-4CB7-B3A8-EDB528CF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524250"/>
            <a:ext cx="1181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3ACE6-C0DF-4DEB-935F-E0132FC1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3714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D53DA-611E-465F-9238-5020A266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000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Earn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2C8A2-DAEE-4C59-992C-5E69D493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39814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D9784-1741-4171-B125-573DFD0B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F65A4-9F24-4122-B8EB-C94ECC8D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524250"/>
            <a:ext cx="1181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38380-C6FA-45DA-A750-D7AC9EE5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3714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F822E-9727-4370-A4F6-3EE1084B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000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Tarjeta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31517-1B62-42FA-B094-2F4A4FF4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39814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4E985-CDFE-4FE0-A84B-E9FAB439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98C59A-D173-4211-86D0-24F2CEC9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524250"/>
            <a:ext cx="1181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A9E1EF-F0F3-4F2B-A372-D59E26D0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3714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8B609-CA5C-493F-81CE-00F99287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4000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Fiat QR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4DCB06-6BEB-49AB-9994-FC1A2C3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39814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34CA4-B4AA-4B51-89EF-705C20AE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>
              <a:alpha val="25000"/>
            </a:srgbClr>
          </a:solidFill>
          <a:ln xmlns:a="http://schemas.openxmlformats.org/drawingml/2006/main" w="0"/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E9B4F6-544D-4FFD-AB4B-4EDCA1A5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524250"/>
            <a:ext cx="1181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71B"/>
          </a:solidFill>
          <a:ln xmlns:a="http://schemas.openxmlformats.org/drawingml/2006/main" w="9525"/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1A93CE-9778-4BFD-BCD0-04E76060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3714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2B7BF-F246-4AE7-945B-40B3583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4000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SDK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737202f524661"/>
          <a:stretch xmlns:a="http://schemas.openxmlformats.org/drawingml/2006/main"/>
        </p:blipFill>
        <p:spPr>
          <a:xfrm xmlns:a="http://schemas.openxmlformats.org/drawingml/2006/main">
            <a:off x="800100" y="5430119"/>
            <a:ext cx="393192" cy="455462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9E834-44C7-4184-9DF9-EE5C6EA5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524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5F5F3"/>
                </a:solidFill>
                <a:latin typeface="Segoe UI"/>
                <a:ea typeface="Segoe UI"/>
                <a:cs typeface="Segoe UI"/>
              </a:rPr>
              <a:t>parmelia.me · @parmelia_ · Daniel Cueto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535B40-BC2C-45C7-90A4-5AC94DC6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467350"/>
            <a:ext cx="3314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D4DE"/>
          </a:solidFill>
          <a:ln xmlns:a="http://schemas.openxmlformats.org/drawingml/2006/main" w="0"/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40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5140F"/>
                </a:solidFill>
                <a:latin typeface="Segoe UI"/>
                <a:ea typeface="Segoe UI"/>
                <a:cs typeface="Segoe UI"/>
              </a:rPr>
              <a:t>Demo lista para conversaciones con usuarios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27EEE5-7662-4A92-9500-47ABA372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19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>
              <a:alpha val="12000"/>
            </a:srgbClr>
          </a:solidFill>
          <a:ln xmlns:a="http://schemas.openxmlformats.org/drawingml/2006/main" w="0"/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8C27BF-04F1-43B1-823A-6F1E327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PARMELIA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5CBC0E-B6C3-4CE1-BB71-D21F3650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Cierre: usar para pitch, demo y conversaciones de validación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57650B-6700-4221-8DC4-8D39E75D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6343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5F5F3">
                    <a:alpha val="38000"/>
                  </a:srgbClr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56050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2026-06-11T03:40:34.5700000Z</dcterms:created>
  <dcterms:modified xsi:type="dcterms:W3CDTF">2026-06-11T03:40:34.5700000Z</dcterms:modified>
</coreProperties>
</file>